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2377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ShopIntel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7043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 Light"/>
              </a:rPr>
              <a:t>AI-POWERED MULTI-PLATFORM PRODUCT COMPARISON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813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8CC"/>
                </a:solidFill>
                <a:latin typeface="Calibri"/>
              </a:rPr>
              <a:t>Real-Time Scraping · MCDA Scoring · Responsive SPA · Wishlist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ourier New"/>
              </a:rPr>
              <a:t>Presented by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ourier New"/>
              </a:rPr>
              <a:t>Soumya 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ourier New"/>
              </a:rPr>
              <a:t>Sandip Guria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39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ourier New"/>
              </a:rPr>
              <a:t>Sisir Mondal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0479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ourier New"/>
              </a:rPr>
              <a:t>Dharitri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5786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ourier New"/>
              </a:rPr>
              <a:t>Guided by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8803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ourier New"/>
              </a:rPr>
              <a:t>[Faculty Guide Name]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2004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urier New"/>
              </a:rPr>
              <a:t>Department of CSE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617720"/>
            <a:ext cx="1417320" cy="246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4617720"/>
            <a:ext cx="1417320" cy="24688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Python 3.12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11296" y="4617720"/>
            <a:ext cx="1965960" cy="246888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BeautifulSoup4 · aiohttp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86983" y="4617720"/>
            <a:ext cx="1965960" cy="24688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MCDA · Vanilla JS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2E8F0"/>
                </a:solidFill>
                <a:latin typeface="Calibri"/>
              </a:rPr>
              <a:t>[College / University Name]     Academic Year 2025-26   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4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  <a:latin typeface="Courier New"/>
              </a:rPr>
              <a:t>SECTION 00 —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ourier New"/>
              </a:rPr>
              <a:t>ShopIntel  |  AI Product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Presentation Outline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4069080" cy="4937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34440"/>
            <a:ext cx="54864" cy="493776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" y="1325880"/>
            <a:ext cx="310896" cy="310896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34416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ourier New"/>
              </a:rPr>
              <a:t>Problem Statement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19656"/>
            <a:ext cx="4069080" cy="4937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819656"/>
            <a:ext cx="54864" cy="49377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" y="1911096"/>
            <a:ext cx="310896" cy="31089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192938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ourier New"/>
              </a:rPr>
              <a:t>Survey of Existing Solutions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404872"/>
            <a:ext cx="4069080" cy="4937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404872"/>
            <a:ext cx="54864" cy="493776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0624" y="2496312"/>
            <a:ext cx="310896" cy="310896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5146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ourier New"/>
              </a:rPr>
              <a:t>Identified Gaps &amp; Objectives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990088"/>
            <a:ext cx="4069080" cy="4937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990088"/>
            <a:ext cx="54864" cy="493776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4" y="3081528"/>
            <a:ext cx="310896" cy="310896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09981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ourier New"/>
              </a:rPr>
              <a:t>Functional &amp; Non-Functional Requirements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575304"/>
            <a:ext cx="4069080" cy="4937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575304"/>
            <a:ext cx="54864" cy="493776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0624" y="3666744"/>
            <a:ext cx="310896" cy="310896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6850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ourier New"/>
              </a:rPr>
              <a:t>Design Details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160520"/>
            <a:ext cx="4069080" cy="4937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4160520"/>
            <a:ext cx="54864" cy="4937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0624" y="4251960"/>
            <a:ext cx="310896" cy="31089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2702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ourier New"/>
              </a:rPr>
              <a:t>Architecture &amp; UML Diagrams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9160" y="1234440"/>
            <a:ext cx="4069080" cy="4937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709160" y="1234440"/>
            <a:ext cx="54864" cy="49377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64024" y="1325880"/>
            <a:ext cx="310896" cy="31089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60" y="134416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ourier New"/>
              </a:rPr>
              <a:t>Implementation Details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09160" y="1819656"/>
            <a:ext cx="4069080" cy="4937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09160" y="1819656"/>
            <a:ext cx="54864" cy="493776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64024" y="1911096"/>
            <a:ext cx="310896" cy="310896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60" y="192938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ourier New"/>
              </a:rPr>
              <a:t>Testing Details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09160" y="2404872"/>
            <a:ext cx="4069080" cy="4937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09160" y="2404872"/>
            <a:ext cx="54864" cy="493776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764024" y="2496312"/>
            <a:ext cx="310896" cy="310896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66360" y="25146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ourier New"/>
              </a:rPr>
              <a:t>Deployment Details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09160" y="2990088"/>
            <a:ext cx="4069080" cy="4937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09160" y="2990088"/>
            <a:ext cx="54864" cy="493776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64024" y="3081528"/>
            <a:ext cx="310896" cy="310896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66360" y="309981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ourier New"/>
              </a:rPr>
              <a:t>Conclusion &amp; Future Extensions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09160" y="3575304"/>
            <a:ext cx="4069080" cy="4937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09160" y="3575304"/>
            <a:ext cx="54864" cy="4937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764024" y="3666744"/>
            <a:ext cx="310896" cy="31089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66360" y="36850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ourier New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4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  <a:latin typeface="Courier New"/>
              </a:rPr>
              <a:t>SECTION 01 —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ourier New"/>
              </a:rPr>
              <a:t>ShopIntel  |  AI Product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The fragmented e-commerce landscape creates decision paralysis for Indian shoppers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44752"/>
            <a:ext cx="5230368" cy="3474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444752"/>
            <a:ext cx="54864" cy="3474720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0876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62246"/>
                </a:solidFill>
                <a:latin typeface="Calibri"/>
              </a:rPr>
              <a:t>Core Challenges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847088"/>
            <a:ext cx="310896" cy="310896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56231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Calibri"/>
              </a:rPr>
              <a:t>Platform Fragmentation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08483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Amazon, Flipkart, Myntra, Puma, Souled Store — no unified comparison tool exists in India.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450592"/>
            <a:ext cx="310896" cy="310896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2459736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Calibri"/>
              </a:rPr>
              <a:t>Dark Patterns &amp; Fake Discounts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268833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Sellers inflate MRP artificially; shoppers cannot verify true savings across platforms.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054096"/>
            <a:ext cx="310896" cy="310896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063239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Calibri"/>
              </a:rPr>
              <a:t>Time &amp; Cognitive Overhead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291839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Manually comparing 3-5 platforms wastes 20-45 minutes per product purchase decision.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657600"/>
            <a:ext cx="310896" cy="310896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3666744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Calibri"/>
              </a:rPr>
              <a:t>No Objective Scoring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89534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No free tool weighs price, rating, delivery time, and stock using a formal algorithm.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61104"/>
            <a:ext cx="310896" cy="310896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270248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Calibri"/>
              </a:rPr>
              <a:t>No Persistent Wishlist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449884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No centralized cross-platform wishlist exists without mandatory user account creation.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1463040"/>
            <a:ext cx="274320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16752" y="1499616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  <a:latin typeface="Calibri"/>
              </a:rPr>
              <a:t>73%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1554480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of Indian online shoppers
check 3+ platforms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2322576"/>
            <a:ext cx="274320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16752" y="2359152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62246"/>
                </a:solidFill>
                <a:latin typeface="Calibri"/>
              </a:rPr>
              <a:t>45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414016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avg time wasted per
product comparison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3182112"/>
            <a:ext cx="274320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16752" y="3218688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6A77D"/>
                </a:solidFill>
                <a:latin typeface="Calibri"/>
              </a:rPr>
              <a:t>Rs.2400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273552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avg over-payment due
to missed best deals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4041648"/>
            <a:ext cx="274320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16752" y="4078224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4A261"/>
                </a:solidFill>
                <a:latin typeface="Calibri"/>
              </a:rPr>
              <a:t>Rs.7.5T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133087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Indian e-commerce
market size by 2030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4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  <a:latin typeface="Courier New"/>
              </a:rPr>
              <a:t>SECTION 02 —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ourier New"/>
              </a:rPr>
              <a:t>ShopIntel  |  AI Product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Survey of Existing Digital Solutions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Comparative analysis of current price-comparison tools and published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417320"/>
          <a:ext cx="78638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05840"/>
                <a:gridCol w="1325880"/>
                <a:gridCol w="822960"/>
                <a:gridCol w="731520"/>
                <a:gridCol w="2514600"/>
              </a:tblGrid>
              <a:tr h="39624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Tool / Platform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Platforms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AI Scoring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Wishlist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Google Shopping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Ad Aggregator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Multiple (paid ads)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Sponsored bias; no scoring model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PriceDekho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Price Tracker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Amazon, Flipkart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India-specific; no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Smartprix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Comparison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Electronics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Single category; no fashion/sports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Amazon Price Hist.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Price Tracker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Amazon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Single platform; no cross-compare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Honey / Karma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Browser Ext.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Multiple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Coupon-only; no product ranking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Pricespy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Nordic markets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Not relevant to Indian market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Rakuten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Cashback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Partner stores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Cashback only; no comparison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ShopIntel (Ours)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AI SPA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Amazon, Flipkart,
Myntra, Puma, Souled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MCDA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localStorage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Beta; no auth/history yet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464515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62246"/>
                </a:solidFill>
                <a:latin typeface="Calibri"/>
              </a:rPr>
              <a:t>ShopIntel is the ONLY tool applying MCDA scoring across 5 live Indian e-commerce platforms simultaneously.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4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  <a:latin typeface="Courier New"/>
              </a:rPr>
              <a:t>SECTION 03 — GAPS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ourier New"/>
              </a:rPr>
              <a:t>ShopIntel  |  AI Product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Identified Gaps &amp; 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What the literature review revealed — and how ShopIntel uniquely fills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17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62246"/>
                </a:solidFill>
                <a:latin typeface="Calibri"/>
              </a:rPr>
              <a:t>Identified Gaps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37360"/>
            <a:ext cx="347472" cy="347472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G1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1737360"/>
            <a:ext cx="4023360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7393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No real-time multi-platform Indian e-commerce scraper exists as a free tool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40280"/>
            <a:ext cx="347472" cy="347472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G2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2240280"/>
            <a:ext cx="4023360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27685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Zero tools apply MCDA for objective, weighted product ranking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43200"/>
            <a:ext cx="347472" cy="347472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G3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2743200"/>
            <a:ext cx="4023360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77977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No solution handles Brotli compression, JS hydration &amp; CDN anti-bot measures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46120"/>
            <a:ext cx="347472" cy="347472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G4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3246120"/>
            <a:ext cx="4023360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28269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Existing tools ignore delivery speed, stock status and review volume in scoring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749039"/>
            <a:ext cx="347472" cy="347472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G5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3749039"/>
            <a:ext cx="4023360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785615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No unified wishlist without mandatory account creation exists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251960"/>
            <a:ext cx="347472" cy="347472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G6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4251960"/>
            <a:ext cx="4023360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28853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No published algorithm for normalising heterogeneous e-commerce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1417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A77D"/>
                </a:solidFill>
                <a:latin typeface="Calibri"/>
              </a:rPr>
              <a:t>Project Objectives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74920" y="1737360"/>
            <a:ext cx="347472" cy="347472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O1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22392" y="1737360"/>
            <a:ext cx="3310128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0" y="17465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A77D"/>
                </a:solidFill>
                <a:latin typeface="Calibri"/>
              </a:rPr>
              <a:t>Real-Time Ingestion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1911095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Scrape live data from 5+ Indian platforms simultaneously via asyncio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4920" y="2240280"/>
            <a:ext cx="347472" cy="347472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O2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22392" y="2240280"/>
            <a:ext cx="3310128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0" y="224942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7B6"/>
                </a:solidFill>
                <a:latin typeface="Calibri"/>
              </a:rPr>
              <a:t>MCDA Scoring Engine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41401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Weighted: price 35%, rating 25%, delivery 15%, stock 15%, reviews 10%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74920" y="2743200"/>
            <a:ext cx="347472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O3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22392" y="2743200"/>
            <a:ext cx="3310128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0" y="275234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  <a:latin typeface="Calibri"/>
              </a:rPr>
              <a:t>Anti-Bot Resilience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291693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Handle Brotli, JS hydration state, CDN fingerprinting, UA rotation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74920" y="3246120"/>
            <a:ext cx="347472" cy="34747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O4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22392" y="3246120"/>
            <a:ext cx="3310128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0" y="3255263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A261"/>
                </a:solidFill>
                <a:latin typeface="Calibri"/>
              </a:rPr>
              <a:t>Persistent Wishlist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0" y="341985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localStorage CRUD wishlist — no login, no server, no cookies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74920" y="3749039"/>
            <a:ext cx="347472" cy="347472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O5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22392" y="3749039"/>
            <a:ext cx="3310128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0" y="3758183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B2D8B"/>
                </a:solidFill>
                <a:latin typeface="Calibri"/>
              </a:rPr>
              <a:t>Analytics Dashboard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0" y="392277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SVG radial rings, particle canvas, ROI calculator, savings estimate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74920" y="4251960"/>
            <a:ext cx="347472" cy="347472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O6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22392" y="4251960"/>
            <a:ext cx="3310128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0" y="4261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62246"/>
                </a:solidFill>
                <a:latin typeface="Calibri"/>
              </a:rPr>
              <a:t>Zero-Dep Responsive SPA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0" y="442569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Single HTML file, no npm/build step, works in any modern browser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4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  <a:latin typeface="Courier New"/>
              </a:rPr>
              <a:t>SECTION 04 —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ourier New"/>
              </a:rPr>
              <a:t>ShopIntel  |  AI Product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Functional &amp; Non-Functional Requirements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Functional Requirements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691640"/>
          <a:ext cx="420624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971800"/>
                <a:gridCol w="640080"/>
              </a:tblGrid>
              <a:tr h="28429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</a:tr>
              <a:tr h="284295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FR-01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Accept 2-5 product URLs from multiple e-commerce platforms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4295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FR-02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Scrape live price, rating, delivery, stock data in real-time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295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FR-03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Apply MCDA algorithm; return normalised 0-100 score per product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4295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FR-04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Display comparison in responsive table/card with score radial 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295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FR-05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Allow add/remove products to/from persistent wishlist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4295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FR-06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Persist wishlist in browser localStorage across sessions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295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FR-07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Display analytics: savings %, ROI slider, score breakdown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4295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FR-08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Validate input URLs; reject non-whitelisted domains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295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FR-09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Expose /api/health endpoint for monitoring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4298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FR-10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Support Cloudflare Turnstile CAPTCHA on form 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754880" y="1417320"/>
            <a:ext cx="4005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Non-Functional Requirements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754880" y="1691640"/>
          <a:ext cx="4005072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514600"/>
                <a:gridCol w="896112"/>
              </a:tblGrid>
              <a:tr h="28429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</a:tr>
              <a:tr h="284295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NFR-01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Performance: API response time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&lt; 8 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4295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NFR-02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Availability: backend uptime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&gt; 99 %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295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NFR-03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Scalability: concurrent users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&gt; 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4295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NFR-04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Usability: mobile-responsive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&gt;= 375 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295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NFR-05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Security: URL whitelisting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Enforced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4295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NFR-06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Maintainability: modularity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Single-file SPA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295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NFR-07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Portability: browser support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Chrome/FF/Safari/Edge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4295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NFR-08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Privacy: no personal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Zero cookies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295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NFR-09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Reliability: scrape fallback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Synthetic engine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4298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NFR-10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Accessibility: contrast 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WCAG 2.1 AA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13892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2560320"/>
            <a:ext cx="8942832" cy="3657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7B6"/>
                </a:solidFill>
                <a:latin typeface="Courier New"/>
              </a:rPr>
              <a:t>SECTION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331720"/>
            <a:ext cx="8321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 Light"/>
              </a:rPr>
              <a:t>Design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246120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B8CC"/>
                </a:solidFill>
                <a:latin typeface="Calibri"/>
              </a:rPr>
              <a:t>Architecture  ·  Modules  ·  UML Diagrams  · 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00600"/>
            <a:ext cx="8321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urier New"/>
              </a:rPr>
              <a:t>ShopIntel  |  AI-Powered Multi-Platform Product Comparison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4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  <a:latin typeface="Courier New"/>
              </a:rPr>
              <a:t>SECTION 07 — 7.1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ourier New"/>
              </a:rPr>
              <a:t>ShopIntel  |  AI Product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High-Level Architecture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Three-tier client-server topology with parallel async scraping engine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8503920" cy="2011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435608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2D8B"/>
                </a:solidFill>
                <a:latin typeface="Calibri"/>
              </a:rPr>
              <a:t>PRESENTATION TIER  —  Browser (shopintel_ai_v2.html)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1645920"/>
            <a:ext cx="1572768" cy="475488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Compare 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29968" y="1645920"/>
            <a:ext cx="1572768" cy="47548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Wishlist 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12464" y="1645920"/>
            <a:ext cx="1572768" cy="47548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Analytics Dashboard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1645920"/>
            <a:ext cx="1572768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About 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77456" y="1645920"/>
            <a:ext cx="1572768" cy="47548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Home / Hero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0" y="2139696"/>
            <a:ext cx="0" cy="192024"/>
          </a:xfrm>
          <a:prstGeom prst="line">
            <a:avLst/>
          </a:prstGeom>
          <a:ln w="25400">
            <a:solidFill>
              <a:srgbClr val="7B2D8B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91840" y="214884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7B2D8B"/>
                </a:solidFill>
                <a:latin typeface="Calibri"/>
              </a:rPr>
              <a:t>HTTP POST /api/compare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350008"/>
            <a:ext cx="8503920" cy="2011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368296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1B3E"/>
                </a:solidFill>
                <a:latin typeface="Calibri"/>
              </a:rPr>
              <a:t>APPLICATION TIER  —  FastAPI Backend  (Server/backend/main.py)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2578608"/>
            <a:ext cx="1572768" cy="594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URL Validator
&amp; Sanitiser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29968" y="2578608"/>
            <a:ext cx="1572768" cy="594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Anti-Bot
Header Engine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12464" y="2578608"/>
            <a:ext cx="1572768" cy="59436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6-Tier Cascade
Extractor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2578608"/>
            <a:ext cx="1572768" cy="59436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MCDA
Scoring Engine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77456" y="2578608"/>
            <a:ext cx="1572768" cy="5943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/api/compare
/api/health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72000" y="3191256"/>
            <a:ext cx="0" cy="192024"/>
          </a:xfrm>
          <a:prstGeom prst="line">
            <a:avLst/>
          </a:prstGeom>
          <a:ln w="25400">
            <a:solidFill>
              <a:srgbClr val="06A77D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291840" y="320040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06A77D"/>
                </a:solidFill>
                <a:latin typeface="Calibri"/>
              </a:rPr>
              <a:t>HTTP GET (async, parallel)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4937760" y="3191256"/>
            <a:ext cx="0" cy="192024"/>
          </a:xfrm>
          <a:prstGeom prst="line">
            <a:avLst/>
          </a:prstGeom>
          <a:ln w="19050">
            <a:solidFill>
              <a:srgbClr val="00B4D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0" y="32461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00B4D8"/>
                </a:solidFill>
                <a:latin typeface="Calibri"/>
              </a:rPr>
              <a:t>HTML/JSON response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401568"/>
            <a:ext cx="8503920" cy="2011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419856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4A261"/>
                </a:solidFill>
                <a:latin typeface="Calibri"/>
              </a:rPr>
              <a:t>DATA TIER  —  External E-Commerce Platforms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" y="3630168"/>
            <a:ext cx="1572768" cy="47548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Amazon.in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29968" y="3630168"/>
            <a:ext cx="1572768" cy="475488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Flipkart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12464" y="3630168"/>
            <a:ext cx="1572768" cy="475488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Myntra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94960" y="3630168"/>
            <a:ext cx="1572768" cy="47548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Puma.in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77456" y="3630168"/>
            <a:ext cx="1572768" cy="47548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Souled Store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58200" y="3630168"/>
            <a:ext cx="347472" cy="4754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Fallback
Synth.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4828032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4748B"/>
                </a:solidFill>
                <a:latin typeface="Calibri"/>
              </a:rPr>
              <a:t>Vertical arrows = HTTP data flow direction  |  Green = success path  |  Cyan = response return path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4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  <a:latin typeface="Courier New"/>
              </a:rPr>
              <a:t>SECTION 07 — 7.2 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ourier New"/>
              </a:rPr>
              <a:t>ShopIntel  |  AI Product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Modules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Eight functional components of ShopIntel and their responsibilities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1993392" cy="16276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1993392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" y="146304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urier New"/>
              </a:rPr>
              <a:t>M1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14538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URL Ingestion
&amp;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" y="1856232"/>
            <a:ext cx="1828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Accepts 2-5 URLs. Detects platform via domain regex. Sanitises query strings. Blocks non-whitelisted domains.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50592" y="1417320"/>
            <a:ext cx="1993392" cy="16276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50592" y="1417320"/>
            <a:ext cx="1993392" cy="38404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23744" y="146304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urier New"/>
              </a:rPr>
              <a:t>M2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0944" y="14538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Anti-Bot
Header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23744" y="1856232"/>
            <a:ext cx="1828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Rotates User-Agent strings. Strips Accept-Encoding:br (Flipkart Brotli). Sets Referer, Cookie, Accept headers.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81144" y="1417320"/>
            <a:ext cx="1993392" cy="16276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81144" y="1417320"/>
            <a:ext cx="1993392" cy="38404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54296" y="146304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urier New"/>
              </a:rPr>
              <a:t>M3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11496" y="14538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Cascade
Extractor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4296" y="1856232"/>
            <a:ext cx="1828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6-tier: Platform parsers → JSON-LD → OpenGraph → HTML5 semantics → Regex → Synthetic fallback.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11696" y="1417320"/>
            <a:ext cx="1993392" cy="16276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11696" y="1417320"/>
            <a:ext cx="1993392" cy="38404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4848" y="146304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urier New"/>
              </a:rPr>
              <a:t>M4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14538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MCDA
Scoring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4848" y="1856232"/>
            <a:ext cx="1828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Normalises price, rating, delivery, stock, reviews. Applies weighted sum formula → 0-100 score.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154680"/>
            <a:ext cx="1993392" cy="16276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154680"/>
            <a:ext cx="1993392" cy="38404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320040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urier New"/>
              </a:rPr>
              <a:t>M5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" y="319125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REST API
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" y="3593592"/>
            <a:ext cx="1828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FastAPI endpoints: POST /api/compare, GET /api/health. CORS-enabled. Pydantic request/response schemas.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50592" y="3154680"/>
            <a:ext cx="1993392" cy="16276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50592" y="3154680"/>
            <a:ext cx="1993392" cy="384048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23744" y="320040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urier New"/>
              </a:rPr>
              <a:t>M6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80944" y="319125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SPA
View Router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23744" y="3593592"/>
            <a:ext cx="1828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JS class-toggle router navigates 5 views (Home, Compare, Wishlist, Analytics, About) without page reload.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81144" y="3154680"/>
            <a:ext cx="1993392" cy="16276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81144" y="3154680"/>
            <a:ext cx="1993392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54296" y="320040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urier New"/>
              </a:rPr>
              <a:t>M7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11496" y="319125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Wishlist
Manager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54296" y="3593592"/>
            <a:ext cx="1828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localStorage CRUD: add, remove, list, export. Persists across sessions. No auth required.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11696" y="3154680"/>
            <a:ext cx="1993392" cy="16276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711696" y="3154680"/>
            <a:ext cx="1993392" cy="384048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84848" y="320040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urier New"/>
              </a:rPr>
              <a:t>M8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42048" y="319125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Analytics
&amp; Viz Engine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84848" y="3593592"/>
            <a:ext cx="1828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SVG radial score rings, particle wave canvas, 3D card tilt, ROI calculator, savings percentage.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4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  <a:latin typeface="Courier New"/>
              </a:rPr>
              <a:t>SECTION 07 — 7.3  UML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ourier New"/>
              </a:rPr>
              <a:t>ShopIntel  |  AI Product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UML — Use Case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Actors and system interactions for the ShopIntel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0" y="1417320"/>
            <a:ext cx="6035040" cy="3429000"/>
          </a:xfrm>
          <a:prstGeom prst="rect">
            <a:avLst/>
          </a:prstGeom>
          <a:solidFill>
            <a:srgbClr val="F8FAFC"/>
          </a:solidFill>
          <a:ln w="19050"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1444752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3E"/>
                </a:solidFill>
                <a:latin typeface="Calibri"/>
              </a:rPr>
              <a:t>&lt;&lt;System&gt;&gt;  ShopIntel 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" y="2423160"/>
            <a:ext cx="1188720" cy="457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User
(Shopper)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" y="290779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4748B"/>
                </a:solidFill>
                <a:latin typeface="Calibri"/>
              </a:rPr>
              <a:t>Primary Actor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2423160"/>
            <a:ext cx="1188720" cy="457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System
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90779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4748B"/>
                </a:solidFill>
                <a:latin typeface="Calibri"/>
              </a:rPr>
              <a:t>Secondary Actor</a:t>
            </a:r>
          </a:p>
        </p:txBody>
      </p:sp>
      <p:sp>
        <p:nvSpPr>
          <p:cNvPr id="16" name="Oval 15"/>
          <p:cNvSpPr/>
          <p:nvPr/>
        </p:nvSpPr>
        <p:spPr>
          <a:xfrm>
            <a:off x="2148840" y="1719072"/>
            <a:ext cx="155448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1E293B"/>
                </a:solidFill>
              </a:rPr>
              <a:t>UC-01
Enter URLs</a:t>
            </a:r>
          </a:p>
        </p:txBody>
      </p:sp>
      <p:sp>
        <p:nvSpPr>
          <p:cNvPr id="17" name="Oval 16"/>
          <p:cNvSpPr/>
          <p:nvPr/>
        </p:nvSpPr>
        <p:spPr>
          <a:xfrm>
            <a:off x="2157984" y="1728216"/>
            <a:ext cx="164592" cy="164592"/>
          </a:xfrm>
          <a:prstGeom prst="ellipse">
            <a:avLst/>
          </a:prstGeom>
          <a:solidFill>
            <a:srgbClr val="7B2D8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18" name="Oval 17"/>
          <p:cNvSpPr/>
          <p:nvPr/>
        </p:nvSpPr>
        <p:spPr>
          <a:xfrm>
            <a:off x="4160520" y="1719072"/>
            <a:ext cx="155448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1E293B"/>
                </a:solidFill>
              </a:rPr>
              <a:t>UC-02
Compare Products</a:t>
            </a:r>
          </a:p>
        </p:txBody>
      </p:sp>
      <p:sp>
        <p:nvSpPr>
          <p:cNvPr id="19" name="Oval 18"/>
          <p:cNvSpPr/>
          <p:nvPr/>
        </p:nvSpPr>
        <p:spPr>
          <a:xfrm>
            <a:off x="4169663" y="1728216"/>
            <a:ext cx="164592" cy="164592"/>
          </a:xfrm>
          <a:prstGeom prst="ellipse">
            <a:avLst/>
          </a:prstGeom>
          <a:solidFill>
            <a:srgbClr val="0077B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6172200" y="1719072"/>
            <a:ext cx="155448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1E293B"/>
                </a:solidFill>
              </a:rPr>
              <a:t>UC-03
View Score Rankings</a:t>
            </a:r>
          </a:p>
        </p:txBody>
      </p:sp>
      <p:sp>
        <p:nvSpPr>
          <p:cNvPr id="21" name="Oval 20"/>
          <p:cNvSpPr/>
          <p:nvPr/>
        </p:nvSpPr>
        <p:spPr>
          <a:xfrm>
            <a:off x="6181344" y="1728216"/>
            <a:ext cx="164592" cy="164592"/>
          </a:xfrm>
          <a:prstGeom prst="ellipse">
            <a:avLst/>
          </a:prstGeom>
          <a:solidFill>
            <a:srgbClr val="06A77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2" name="Oval 21"/>
          <p:cNvSpPr/>
          <p:nvPr/>
        </p:nvSpPr>
        <p:spPr>
          <a:xfrm>
            <a:off x="2148840" y="2578608"/>
            <a:ext cx="155448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1E293B"/>
                </a:solidFill>
              </a:rPr>
              <a:t>UC-04
Add to Wishlist</a:t>
            </a:r>
          </a:p>
        </p:txBody>
      </p:sp>
      <p:sp>
        <p:nvSpPr>
          <p:cNvPr id="23" name="Oval 22"/>
          <p:cNvSpPr/>
          <p:nvPr/>
        </p:nvSpPr>
        <p:spPr>
          <a:xfrm>
            <a:off x="2157984" y="2587751"/>
            <a:ext cx="164592" cy="1645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4" name="Oval 23"/>
          <p:cNvSpPr/>
          <p:nvPr/>
        </p:nvSpPr>
        <p:spPr>
          <a:xfrm>
            <a:off x="4160520" y="2578608"/>
            <a:ext cx="155448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1E293B"/>
                </a:solidFill>
              </a:rPr>
              <a:t>UC-05
Analytics Dashboard</a:t>
            </a:r>
          </a:p>
        </p:txBody>
      </p:sp>
      <p:sp>
        <p:nvSpPr>
          <p:cNvPr id="25" name="Oval 24"/>
          <p:cNvSpPr/>
          <p:nvPr/>
        </p:nvSpPr>
        <p:spPr>
          <a:xfrm>
            <a:off x="4169663" y="2587751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6" name="Oval 25"/>
          <p:cNvSpPr/>
          <p:nvPr/>
        </p:nvSpPr>
        <p:spPr>
          <a:xfrm>
            <a:off x="6172200" y="2578608"/>
            <a:ext cx="155448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1E293B"/>
                </a:solidFill>
              </a:rPr>
              <a:t>UC-06
Remove from Wishlist</a:t>
            </a:r>
          </a:p>
        </p:txBody>
      </p:sp>
      <p:sp>
        <p:nvSpPr>
          <p:cNvPr id="27" name="Oval 26"/>
          <p:cNvSpPr/>
          <p:nvPr/>
        </p:nvSpPr>
        <p:spPr>
          <a:xfrm>
            <a:off x="6181344" y="2587751"/>
            <a:ext cx="164592" cy="164592"/>
          </a:xfrm>
          <a:prstGeom prst="ellipse">
            <a:avLst/>
          </a:prstGeom>
          <a:solidFill>
            <a:srgbClr val="D6224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8" name="Oval 27"/>
          <p:cNvSpPr/>
          <p:nvPr/>
        </p:nvSpPr>
        <p:spPr>
          <a:xfrm>
            <a:off x="2148840" y="3438144"/>
            <a:ext cx="155448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1E293B"/>
                </a:solidFill>
              </a:rPr>
              <a:t>UC-07
Price Breakdown</a:t>
            </a:r>
          </a:p>
        </p:txBody>
      </p:sp>
      <p:sp>
        <p:nvSpPr>
          <p:cNvPr id="29" name="Oval 28"/>
          <p:cNvSpPr/>
          <p:nvPr/>
        </p:nvSpPr>
        <p:spPr>
          <a:xfrm>
            <a:off x="2157984" y="3447287"/>
            <a:ext cx="164592" cy="164592"/>
          </a:xfrm>
          <a:prstGeom prst="ellipse">
            <a:avLst/>
          </a:prstGeom>
          <a:solidFill>
            <a:srgbClr val="0077B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30" name="Oval 29"/>
          <p:cNvSpPr/>
          <p:nvPr/>
        </p:nvSpPr>
        <p:spPr>
          <a:xfrm>
            <a:off x="4160520" y="3438144"/>
            <a:ext cx="155448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1E293B"/>
                </a:solidFill>
              </a:rPr>
              <a:t>UC-08
Export Wishlist</a:t>
            </a:r>
          </a:p>
        </p:txBody>
      </p:sp>
      <p:sp>
        <p:nvSpPr>
          <p:cNvPr id="31" name="Oval 30"/>
          <p:cNvSpPr/>
          <p:nvPr/>
        </p:nvSpPr>
        <p:spPr>
          <a:xfrm>
            <a:off x="4169663" y="3447287"/>
            <a:ext cx="164592" cy="164592"/>
          </a:xfrm>
          <a:prstGeom prst="ellipse">
            <a:avLst/>
          </a:prstGeom>
          <a:solidFill>
            <a:srgbClr val="06A77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32" name="Oval 31"/>
          <p:cNvSpPr/>
          <p:nvPr/>
        </p:nvSpPr>
        <p:spPr>
          <a:xfrm>
            <a:off x="6172200" y="3438144"/>
            <a:ext cx="155448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1E293B"/>
                </a:solidFill>
              </a:rPr>
              <a:t>UC-09
Health Check</a:t>
            </a:r>
          </a:p>
        </p:txBody>
      </p:sp>
      <p:sp>
        <p:nvSpPr>
          <p:cNvPr id="33" name="Oval 32"/>
          <p:cNvSpPr/>
          <p:nvPr/>
        </p:nvSpPr>
        <p:spPr>
          <a:xfrm>
            <a:off x="6181344" y="3447287"/>
            <a:ext cx="164592" cy="16459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34" name="Oval 33"/>
          <p:cNvSpPr/>
          <p:nvPr/>
        </p:nvSpPr>
        <p:spPr>
          <a:xfrm>
            <a:off x="4160520" y="4297680"/>
            <a:ext cx="155448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1E293B"/>
                </a:solidFill>
              </a:rPr>
              <a:t>UC-10
SPA Navigation</a:t>
            </a:r>
          </a:p>
        </p:txBody>
      </p:sp>
      <p:sp>
        <p:nvSpPr>
          <p:cNvPr id="35" name="Oval 34"/>
          <p:cNvSpPr/>
          <p:nvPr/>
        </p:nvSpPr>
        <p:spPr>
          <a:xfrm>
            <a:off x="4169663" y="4306824"/>
            <a:ext cx="164592" cy="164592"/>
          </a:xfrm>
          <a:prstGeom prst="ellipse">
            <a:avLst/>
          </a:prstGeom>
          <a:solidFill>
            <a:srgbClr val="7B2D8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1325880" y="1920240"/>
            <a:ext cx="685800" cy="731520"/>
          </a:xfrm>
          <a:prstGeom prst="line">
            <a:avLst/>
          </a:prstGeom>
          <a:ln w="12700">
            <a:solidFill>
              <a:srgbClr val="0D1B3E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325880" y="2651760"/>
            <a:ext cx="685800" cy="128016"/>
          </a:xfrm>
          <a:prstGeom prst="line">
            <a:avLst/>
          </a:prstGeom>
          <a:ln w="12700">
            <a:solidFill>
              <a:srgbClr val="0D1B3E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325880" y="2651760"/>
            <a:ext cx="685800" cy="987552"/>
          </a:xfrm>
          <a:prstGeom prst="line">
            <a:avLst/>
          </a:prstGeom>
          <a:ln w="12700">
            <a:solidFill>
              <a:srgbClr val="0D1B3E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7726679" y="2651760"/>
            <a:ext cx="91441" cy="1033272"/>
          </a:xfrm>
          <a:prstGeom prst="line">
            <a:avLst/>
          </a:prstGeom>
          <a:ln w="12700">
            <a:solidFill>
              <a:srgbClr val="64748B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926080" y="1920240"/>
            <a:ext cx="1234440" cy="0"/>
          </a:xfrm>
          <a:prstGeom prst="line">
            <a:avLst/>
          </a:prstGeom>
          <a:ln w="10160">
            <a:solidFill>
              <a:srgbClr val="64748B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200400" y="17373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&lt;&lt;include&gt;&gt;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926080" y="2779776"/>
            <a:ext cx="1234440" cy="0"/>
          </a:xfrm>
          <a:prstGeom prst="line">
            <a:avLst/>
          </a:prstGeom>
          <a:ln w="10160">
            <a:solidFill>
              <a:srgbClr val="64748B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200400" y="259689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&lt;&lt;extend&gt;&gt;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4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  <a:latin typeface="Courier New"/>
              </a:rPr>
              <a:t>SECTION 07 — 7.3  UML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ourier New"/>
              </a:rPr>
              <a:t>ShopIntel  |  AI Product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UML — Class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Key classes, attributes, methods and relationships in the ShopIntel backend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417320"/>
            <a:ext cx="2286000" cy="292608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14173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ProductRequest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709928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1737360"/>
            <a:ext cx="21945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- urls: List[str]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1947672"/>
            <a:ext cx="21945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- timeout: int = 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2185416"/>
            <a:ext cx="2286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2203704"/>
            <a:ext cx="228600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231136"/>
            <a:ext cx="21945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77B6"/>
                </a:solidFill>
                <a:latin typeface="Courier New"/>
              </a:rPr>
              <a:t>+ validate_urls()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2441448"/>
            <a:ext cx="21945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77B6"/>
                </a:solidFill>
                <a:latin typeface="Courier New"/>
              </a:rPr>
              <a:t>+ to_dict()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71800" y="1417320"/>
            <a:ext cx="3108960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141732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ExtractionEngine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71800" y="1709928"/>
            <a:ext cx="3108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35808" y="1737360"/>
            <a:ext cx="3017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- session: aiohttp.Session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5808" y="1947672"/>
            <a:ext cx="3017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- headers: dict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35808" y="2157984"/>
            <a:ext cx="3017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- timeout: 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71800" y="2395728"/>
            <a:ext cx="31089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1800" y="2414016"/>
            <a:ext cx="3108960" cy="13167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35808" y="2441448"/>
            <a:ext cx="3017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77B6"/>
                </a:solidFill>
                <a:latin typeface="Courier New"/>
              </a:rPr>
              <a:t>+ fetch_html(url) -&gt; str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35808" y="2651760"/>
            <a:ext cx="3017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77B6"/>
                </a:solidFill>
                <a:latin typeface="Courier New"/>
              </a:rPr>
              <a:t>+ detect_platform(url) -&gt; str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35808" y="2862072"/>
            <a:ext cx="3017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77B6"/>
                </a:solidFill>
                <a:latin typeface="Courier New"/>
              </a:rPr>
              <a:t>+ extract_amazon(soup) -&gt; ProductData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35808" y="3072384"/>
            <a:ext cx="3017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77B6"/>
                </a:solidFill>
                <a:latin typeface="Courier New"/>
              </a:rPr>
              <a:t>+ extract_flipkart(soup) -&gt; ProductData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35808" y="3282696"/>
            <a:ext cx="3017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77B6"/>
                </a:solidFill>
                <a:latin typeface="Courier New"/>
              </a:rPr>
              <a:t>+ extract_myntra(soup) -&gt; ProductData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35808" y="3493008"/>
            <a:ext cx="3017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77B6"/>
                </a:solidFill>
                <a:latin typeface="Courier New"/>
              </a:rPr>
              <a:t>+ cascade_extract(url) -&gt; ProductData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1417320"/>
            <a:ext cx="2377440" cy="29260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141732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MCDAScoringEngine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1709928"/>
            <a:ext cx="2377440" cy="11064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4808" y="1737360"/>
            <a:ext cx="2286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- w_price: float = 0.35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8" y="1947672"/>
            <a:ext cx="2286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- w_rating: float = 0.25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2157984"/>
            <a:ext cx="2286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- w_delivery: float = 0.15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4808" y="2368296"/>
            <a:ext cx="2286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- w_stock: float = 0.15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4808" y="2578608"/>
            <a:ext cx="2286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- w_reviews: float = 0.10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2816352"/>
            <a:ext cx="2377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2834640"/>
            <a:ext cx="237744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64808" y="2862072"/>
            <a:ext cx="2286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77B6"/>
                </a:solidFill>
                <a:latin typeface="Courier New"/>
              </a:rPr>
              <a:t>+ compute_score(data, ctx) -&gt; float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64808" y="3072384"/>
            <a:ext cx="2286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77B6"/>
                </a:solidFill>
                <a:latin typeface="Courier New"/>
              </a:rPr>
              <a:t>+ normalize_price(p, mn, mx) -&gt; float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64808" y="3282696"/>
            <a:ext cx="2286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77B6"/>
                </a:solidFill>
                <a:latin typeface="Courier New"/>
              </a:rPr>
              <a:t>+ rank_products(list) -&gt; list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71800" y="3566160"/>
            <a:ext cx="3108960" cy="2926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71800" y="356616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ProductData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71800" y="3858768"/>
            <a:ext cx="3108960" cy="1527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35808" y="3886200"/>
            <a:ext cx="3017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- title: str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35808" y="4096512"/>
            <a:ext cx="3017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- price: float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35808" y="4306824"/>
            <a:ext cx="3017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- rating: float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35808" y="4517136"/>
            <a:ext cx="3017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- reviews: int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35808" y="4727448"/>
            <a:ext cx="3017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- platform: str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35808" y="4937760"/>
            <a:ext cx="3017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- in_stock: bool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35808" y="5148072"/>
            <a:ext cx="3017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- score: float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71800" y="5385816"/>
            <a:ext cx="31089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971800" y="5404103"/>
            <a:ext cx="310896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35808" y="5431536"/>
            <a:ext cx="3017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77B6"/>
                </a:solidFill>
                <a:latin typeface="Courier New"/>
              </a:rPr>
              <a:t>+ to_dict() -&gt; dict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14600" y="1828800"/>
            <a:ext cx="457200" cy="0"/>
          </a:xfrm>
          <a:prstGeom prst="line">
            <a:avLst/>
          </a:prstGeom>
          <a:ln w="19050">
            <a:solidFill>
              <a:srgbClr val="7B2D8B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2523744" y="166420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B2D8B"/>
                </a:solidFill>
                <a:latin typeface="Calibri"/>
              </a:rPr>
              <a:t>&lt;&lt;uses&gt;&gt;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080760" y="2011680"/>
            <a:ext cx="320040" cy="0"/>
          </a:xfrm>
          <a:prstGeom prst="line">
            <a:avLst/>
          </a:prstGeom>
          <a:ln w="19050">
            <a:solidFill>
              <a:srgbClr val="06A77D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053328" y="184708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06A77D"/>
                </a:solidFill>
                <a:latin typeface="Calibri"/>
              </a:rPr>
              <a:t>&lt;&lt;calls&gt;&gt;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572000" y="2907792"/>
            <a:ext cx="0" cy="658368"/>
          </a:xfrm>
          <a:prstGeom prst="line">
            <a:avLst/>
          </a:prstGeom>
          <a:ln w="19050">
            <a:solidFill>
              <a:srgbClr val="F4A26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4645152" y="310896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F4A261"/>
                </a:solidFill>
                <a:latin typeface="Calibri"/>
              </a:rPr>
              <a:t>&lt;&lt;creates&gt;&gt;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4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  <a:latin typeface="Courier New"/>
              </a:rPr>
              <a:t>SECTION 07 — 7.3  DFD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ourier New"/>
              </a:rPr>
              <a:t>ShopIntel  |  AI Product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Data Flow Diagram — Level 0 (Context Diagram)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External entities, system boundary, and top-level data flows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2148840"/>
            <a:ext cx="1463040" cy="685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USER
(Shopper)</a:t>
            </a:r>
          </a:p>
        </p:txBody>
      </p:sp>
      <p:sp>
        <p:nvSpPr>
          <p:cNvPr id="11" name="Oval 10"/>
          <p:cNvSpPr/>
          <p:nvPr/>
        </p:nvSpPr>
        <p:spPr>
          <a:xfrm>
            <a:off x="3291840" y="1737360"/>
            <a:ext cx="2560320" cy="1508760"/>
          </a:xfrm>
          <a:prstGeom prst="ellipse">
            <a:avLst/>
          </a:prstGeom>
          <a:solidFill>
            <a:srgbClr val="7B2D8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ShopIntel
System
   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444752"/>
            <a:ext cx="1371600" cy="5303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Amazon.in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2103120"/>
            <a:ext cx="1371600" cy="530352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Flipkart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2761488"/>
            <a:ext cx="1371600" cy="530352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Myntra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3419856"/>
            <a:ext cx="1371600" cy="530352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Puma.in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4078224"/>
            <a:ext cx="1371600" cy="530352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Souled Store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91640" y="2487168"/>
            <a:ext cx="1600200" cy="0"/>
          </a:xfrm>
          <a:prstGeom prst="line">
            <a:avLst/>
          </a:prstGeom>
          <a:ln w="25400">
            <a:solidFill>
              <a:srgbClr val="0D1B3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737360" y="221284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0D1B3E"/>
                </a:solidFill>
                <a:latin typeface="Calibri"/>
              </a:rPr>
              <a:t>Product URLs (2-5)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691640" y="2651760"/>
            <a:ext cx="1600200" cy="0"/>
          </a:xfrm>
          <a:prstGeom prst="line">
            <a:avLst/>
          </a:prstGeom>
          <a:ln w="25400">
            <a:solidFill>
              <a:srgbClr val="06A77D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737360" y="267004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06A77D"/>
                </a:solidFill>
                <a:latin typeface="Calibri"/>
              </a:rPr>
              <a:t>Ranked Results + Scores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52160" y="2194560"/>
            <a:ext cx="1645919" cy="0"/>
          </a:xfrm>
          <a:prstGeom prst="line">
            <a:avLst/>
          </a:prstGeom>
          <a:ln w="19050">
            <a:solidFill>
              <a:srgbClr val="00B4D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852160" y="19933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00B4D8"/>
                </a:solidFill>
                <a:latin typeface="Calibri"/>
              </a:rPr>
              <a:t>HTTP GET Requests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5852160" y="2450592"/>
            <a:ext cx="1645919" cy="0"/>
          </a:xfrm>
          <a:prstGeom prst="line">
            <a:avLst/>
          </a:prstGeom>
          <a:ln w="19050">
            <a:solidFill>
              <a:srgbClr val="F4A26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852160" y="2468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F4A261"/>
                </a:solidFill>
                <a:latin typeface="Calibri"/>
              </a:rPr>
              <a:t>HTML / JSON 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" y="4828032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4748B"/>
                </a:solidFill>
                <a:latin typeface="Calibri"/>
              </a:rPr>
              <a:t>LEGEND:   Rectangle = External Entity   |   Circle/Oval = System Process   |   Arrow = Data Flow with Label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4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  <a:latin typeface="Courier New"/>
              </a:rPr>
              <a:t>SECTION 07 — 7.3  DFD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ourier New"/>
              </a:rPr>
              <a:t>ShopIntel  |  AI Product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Data Flow Diagram — Level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Decomposition of ShopIntel into major processing sub-processes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" y="2240280"/>
            <a:ext cx="914400" cy="457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2240280"/>
            <a:ext cx="960120" cy="457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Platforms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353312"/>
            <a:ext cx="1371600" cy="749808"/>
          </a:xfrm>
          <a:prstGeom prst="ellipse">
            <a:avLst/>
          </a:prstGeom>
          <a:solidFill>
            <a:srgbClr val="7B2D8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P1
URL
Validator</a:t>
            </a:r>
          </a:p>
        </p:txBody>
      </p:sp>
      <p:sp>
        <p:nvSpPr>
          <p:cNvPr id="13" name="Oval 12"/>
          <p:cNvSpPr/>
          <p:nvPr/>
        </p:nvSpPr>
        <p:spPr>
          <a:xfrm>
            <a:off x="2926080" y="1353312"/>
            <a:ext cx="1371600" cy="7498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P2
Header
Engine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1353312"/>
            <a:ext cx="1371600" cy="7498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P3
HTTP
Fetcher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3127248"/>
            <a:ext cx="1371600" cy="749808"/>
          </a:xfrm>
          <a:prstGeom prst="ellipse">
            <a:avLst/>
          </a:prstGeom>
          <a:solidFill>
            <a:srgbClr val="06A77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P4
Cascade
Extract</a:t>
            </a:r>
          </a:p>
        </p:txBody>
      </p:sp>
      <p:sp>
        <p:nvSpPr>
          <p:cNvPr id="16" name="Oval 15"/>
          <p:cNvSpPr/>
          <p:nvPr/>
        </p:nvSpPr>
        <p:spPr>
          <a:xfrm>
            <a:off x="2926080" y="3127248"/>
            <a:ext cx="1371600" cy="749808"/>
          </a:xfrm>
          <a:prstGeom prst="ellipse">
            <a:avLst/>
          </a:prstGeom>
          <a:solidFill>
            <a:srgbClr val="06A77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P5
MCDA
Scorer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127248"/>
            <a:ext cx="1371600" cy="749808"/>
          </a:xfrm>
          <a:prstGeom prst="ellipse">
            <a:avLst/>
          </a:prstGeom>
          <a:solidFill>
            <a:srgbClr val="7B2D8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P6
Response
Builder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4389120"/>
            <a:ext cx="22860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0" y="4389120"/>
            <a:ext cx="54864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442569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1B3E"/>
                </a:solidFill>
                <a:latin typeface="Calibri"/>
              </a:rPr>
              <a:t>D1  localStorage (Wishlist)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4389120"/>
            <a:ext cx="22860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3440" y="4389120"/>
            <a:ext cx="54864" cy="38404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442569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7B6"/>
                </a:solidFill>
                <a:latin typeface="Calibri"/>
              </a:rPr>
              <a:t>D2  In-Memory HTML Cache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051560" y="1828800"/>
            <a:ext cx="320040" cy="640080"/>
          </a:xfrm>
          <a:prstGeom prst="line">
            <a:avLst/>
          </a:prstGeom>
          <a:ln w="19050">
            <a:solidFill>
              <a:srgbClr val="0D1B3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96112" y="20574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D1B3E"/>
                </a:solidFill>
                <a:latin typeface="Calibri"/>
              </a:rPr>
              <a:t>URLs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743200" y="1737360"/>
            <a:ext cx="182880" cy="0"/>
          </a:xfrm>
          <a:prstGeom prst="line">
            <a:avLst/>
          </a:prstGeom>
          <a:ln w="19050">
            <a:solidFill>
              <a:srgbClr val="7B2D8B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606040" y="15361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B2D8B"/>
                </a:solidFill>
                <a:latin typeface="Calibri"/>
              </a:rPr>
              <a:t>Valid URLs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97680" y="1737360"/>
            <a:ext cx="365760" cy="0"/>
          </a:xfrm>
          <a:prstGeom prst="line">
            <a:avLst/>
          </a:prstGeom>
          <a:ln w="19050">
            <a:solidFill>
              <a:srgbClr val="0D1B3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114800" y="1536192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D1B3E"/>
                </a:solidFill>
                <a:latin typeface="Calibri"/>
              </a:rPr>
              <a:t>Req+Headers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35040" y="2103120"/>
            <a:ext cx="2011680" cy="365760"/>
          </a:xfrm>
          <a:prstGeom prst="line">
            <a:avLst/>
          </a:prstGeom>
          <a:ln w="19050">
            <a:solidFill>
              <a:srgbClr val="00B4D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92240" y="2084831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0B4D8"/>
                </a:solidFill>
                <a:latin typeface="Calibri"/>
              </a:rPr>
              <a:t>HTTP GET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6035040" y="2331720"/>
            <a:ext cx="2011680" cy="274320"/>
          </a:xfrm>
          <a:prstGeom prst="line">
            <a:avLst/>
          </a:prstGeom>
          <a:ln w="19050">
            <a:solidFill>
              <a:srgbClr val="F4A26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92240" y="248716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4A261"/>
                </a:solidFill>
                <a:latin typeface="Calibri"/>
              </a:rPr>
              <a:t>HTML/JSON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349240" y="2103120"/>
            <a:ext cx="0" cy="1024128"/>
          </a:xfrm>
          <a:prstGeom prst="line">
            <a:avLst/>
          </a:prstGeom>
          <a:ln w="19050">
            <a:solidFill>
              <a:srgbClr val="0D1B3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486400" y="254203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D1B3E"/>
                </a:solidFill>
                <a:latin typeface="Calibri"/>
              </a:rPr>
              <a:t>Raw HTML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4297680" y="3502152"/>
            <a:ext cx="365760" cy="0"/>
          </a:xfrm>
          <a:prstGeom prst="line">
            <a:avLst/>
          </a:prstGeom>
          <a:ln w="19050">
            <a:solidFill>
              <a:srgbClr val="06A77D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187952" y="33101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6A77D"/>
                </a:solidFill>
                <a:latin typeface="Calibri"/>
              </a:rPr>
              <a:t>Parsed Data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2743200" y="3502152"/>
            <a:ext cx="182880" cy="0"/>
          </a:xfrm>
          <a:prstGeom prst="line">
            <a:avLst/>
          </a:prstGeom>
          <a:ln w="19050">
            <a:solidFill>
              <a:srgbClr val="06A77D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670048" y="331012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6A77D"/>
                </a:solidFill>
                <a:latin typeface="Calibri"/>
              </a:rPr>
              <a:t>Scores</a:t>
            </a:r>
          </a:p>
        </p:txBody>
      </p:sp>
      <p:cxnSp>
        <p:nvCxnSpPr>
          <p:cNvPr id="40" name="Connector 39"/>
          <p:cNvCxnSpPr/>
          <p:nvPr/>
        </p:nvCxnSpPr>
        <p:spPr>
          <a:xfrm flipH="1" flipV="1">
            <a:off x="1051560" y="2743200"/>
            <a:ext cx="320040" cy="758952"/>
          </a:xfrm>
          <a:prstGeom prst="line">
            <a:avLst/>
          </a:prstGeom>
          <a:ln w="19050">
            <a:solidFill>
              <a:srgbClr val="7B2D8B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299923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B2D8B"/>
                </a:solidFill>
                <a:latin typeface="Calibri"/>
              </a:rPr>
              <a:t>JSON
Results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57400" y="3877056"/>
            <a:ext cx="457200" cy="512064"/>
          </a:xfrm>
          <a:prstGeom prst="line">
            <a:avLst/>
          </a:prstGeom>
          <a:ln w="12700">
            <a:solidFill>
              <a:srgbClr val="00B4D8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331720" y="4041648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00B4D8"/>
                </a:solidFill>
                <a:latin typeface="Calibri"/>
              </a:rPr>
              <a:t>Wishlist
write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349240" y="2103120"/>
            <a:ext cx="228600" cy="2286000"/>
          </a:xfrm>
          <a:prstGeom prst="line">
            <a:avLst/>
          </a:prstGeom>
          <a:ln w="12700">
            <a:solidFill>
              <a:srgbClr val="0077B6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760720" y="365760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0077B6"/>
                </a:solidFill>
                <a:latin typeface="Calibri"/>
              </a:rPr>
              <a:t>Cache HTML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4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  <a:latin typeface="Courier New"/>
              </a:rPr>
              <a:t>SECTION 07 — 7.3  DFD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ourier New"/>
              </a:rPr>
              <a:t>ShopIntel  |  AI Product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DFD Level 2 — P4: Cascade Extraction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Internal decomposition: 6-tier waterfall with fallback guarantee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" y="2331720"/>
            <a:ext cx="1005840" cy="457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Raw
HTML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2560320"/>
            <a:ext cx="548640" cy="0"/>
          </a:xfrm>
          <a:prstGeom prst="line">
            <a:avLst/>
          </a:prstGeom>
          <a:ln w="19050">
            <a:solidFill>
              <a:srgbClr val="64748B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1691640" y="2176272"/>
            <a:ext cx="1463040" cy="777240"/>
          </a:xfrm>
          <a:prstGeom prst="diamond">
            <a:avLst/>
          </a:prstGeom>
          <a:solidFill>
            <a:srgbClr val="F4A26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Platform
Detected?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54680" y="2560320"/>
            <a:ext cx="365760" cy="0"/>
          </a:xfrm>
          <a:prstGeom prst="line">
            <a:avLst/>
          </a:prstGeom>
          <a:ln w="19050">
            <a:solidFill>
              <a:srgbClr val="F4A26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944368" y="23957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4A261"/>
                </a:solidFill>
                <a:latin typeface="Calibri"/>
              </a:rPr>
              <a:t>Yes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23160" y="2953512"/>
            <a:ext cx="0" cy="384048"/>
          </a:xfrm>
          <a:prstGeom prst="line">
            <a:avLst/>
          </a:prstGeom>
          <a:ln w="19050">
            <a:solidFill>
              <a:srgbClr val="F4A26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14600" y="309067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4A261"/>
                </a:solidFill>
                <a:latin typeface="Calibri"/>
              </a:rPr>
              <a:t>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40" y="1417320"/>
            <a:ext cx="1828800" cy="475488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T1: Platform-Specific
Deep Parser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1417320"/>
            <a:ext cx="2560320" cy="4754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1453896"/>
            <a:ext cx="24505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alibri"/>
              </a:rPr>
              <a:t>Amazon JSON-LD, Flipkart DOM,
Myntra __myx, Puma CDN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34840" y="1892808"/>
            <a:ext cx="0" cy="118872"/>
          </a:xfrm>
          <a:prstGeom prst="line">
            <a:avLst/>
          </a:prstGeom>
          <a:ln w="15240">
            <a:solidFill>
              <a:srgbClr val="64748B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0" y="1901952"/>
            <a:ext cx="868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64748B"/>
                </a:solidFill>
                <a:latin typeface="Calibri"/>
              </a:rPr>
              <a:t>no match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0440" y="2011680"/>
            <a:ext cx="1828800" cy="47548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T2: Microdata &amp;
JSON-LD Extractor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49240" y="2011680"/>
            <a:ext cx="2560320" cy="4754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0680" y="2048256"/>
            <a:ext cx="24505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alibri"/>
              </a:rPr>
              <a:t>Schema.org @type:Product
offers.price, aggregateRating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434840" y="2487168"/>
            <a:ext cx="0" cy="118872"/>
          </a:xfrm>
          <a:prstGeom prst="line">
            <a:avLst/>
          </a:prstGeom>
          <a:ln w="15240">
            <a:solidFill>
              <a:srgbClr val="64748B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72000" y="2496312"/>
            <a:ext cx="868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64748B"/>
                </a:solidFill>
                <a:latin typeface="Calibri"/>
              </a:rPr>
              <a:t>no match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2606040"/>
            <a:ext cx="1828800" cy="47548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T3: OpenGraph &amp;
Meta Tag Parser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49240" y="2606040"/>
            <a:ext cx="2560320" cy="4754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40680" y="2642616"/>
            <a:ext cx="24505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alibri"/>
              </a:rPr>
              <a:t>og:title, og:price,
meta[name=price], twitter:image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434840" y="3081528"/>
            <a:ext cx="0" cy="118872"/>
          </a:xfrm>
          <a:prstGeom prst="line">
            <a:avLst/>
          </a:prstGeom>
          <a:ln w="15240">
            <a:solidFill>
              <a:srgbClr val="64748B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0" y="3090672"/>
            <a:ext cx="868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64748B"/>
                </a:solidFill>
                <a:latin typeface="Calibri"/>
              </a:rPr>
              <a:t>no match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20440" y="3200400"/>
            <a:ext cx="1828800" cy="47548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T4: Semantic HTML5
Heuristics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49240" y="3200400"/>
            <a:ext cx="2560320" cy="4754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40680" y="3236976"/>
            <a:ext cx="24505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alibri"/>
              </a:rPr>
              <a:t>h1, .price, [itemprop],
[data-price], table td matching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434840" y="3675887"/>
            <a:ext cx="0" cy="118873"/>
          </a:xfrm>
          <a:prstGeom prst="line">
            <a:avLst/>
          </a:prstGeom>
          <a:ln w="15240">
            <a:solidFill>
              <a:srgbClr val="64748B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572000" y="3685032"/>
            <a:ext cx="868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64748B"/>
                </a:solidFill>
                <a:latin typeface="Calibri"/>
              </a:rPr>
              <a:t>no match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3794760"/>
            <a:ext cx="1828800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T5: Regex Pattern
Matcher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49240" y="3794760"/>
            <a:ext cx="2560320" cy="4754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40680" y="3831336"/>
            <a:ext cx="24505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alibri"/>
              </a:rPr>
              <a:t>Rs.[\d,]+  |  \d+.\d stars
Delivery regex  |  \d+ reviews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434840" y="4270248"/>
            <a:ext cx="0" cy="118872"/>
          </a:xfrm>
          <a:prstGeom prst="line">
            <a:avLst/>
          </a:prstGeom>
          <a:ln w="15240">
            <a:solidFill>
              <a:srgbClr val="64748B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72000" y="4279392"/>
            <a:ext cx="868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64748B"/>
                </a:solidFill>
                <a:latin typeface="Calibri"/>
              </a:rPr>
              <a:t>no match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20440" y="4389120"/>
            <a:ext cx="1828800" cy="4754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T6: Synthetic
Fallback Engine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49240" y="4389120"/>
            <a:ext cx="2560320" cy="4754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40680" y="4425696"/>
            <a:ext cx="24505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alibri"/>
              </a:rPr>
              <a:t>Domain-aware defaults,
in_stock=True, estimated ETA</a:t>
            </a:r>
          </a:p>
        </p:txBody>
      </p:sp>
      <p:sp>
        <p:nvSpPr>
          <p:cNvPr id="45" name="Diamond 44"/>
          <p:cNvSpPr/>
          <p:nvPr/>
        </p:nvSpPr>
        <p:spPr>
          <a:xfrm>
            <a:off x="8138160" y="2148840"/>
            <a:ext cx="914400" cy="804672"/>
          </a:xfrm>
          <a:prstGeom prst="diamond">
            <a:avLst/>
          </a:prstGeom>
          <a:solidFill>
            <a:srgbClr val="06A77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Data
Complete?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909560" y="2560320"/>
            <a:ext cx="228600" cy="0"/>
          </a:xfrm>
          <a:prstGeom prst="line">
            <a:avLst/>
          </a:prstGeom>
          <a:ln w="19050">
            <a:solidFill>
              <a:srgbClr val="06A77D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8138160" y="1280160"/>
            <a:ext cx="868680" cy="45720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Product
Data</a:t>
            </a:r>
          </a:p>
        </p:txBody>
      </p:sp>
      <p:cxnSp>
        <p:nvCxnSpPr>
          <p:cNvPr id="48" name="Connector 47"/>
          <p:cNvCxnSpPr/>
          <p:nvPr/>
        </p:nvCxnSpPr>
        <p:spPr>
          <a:xfrm flipV="1">
            <a:off x="8577072" y="1737360"/>
            <a:ext cx="0" cy="411480"/>
          </a:xfrm>
          <a:prstGeom prst="line">
            <a:avLst/>
          </a:prstGeom>
          <a:ln w="19050">
            <a:solidFill>
              <a:srgbClr val="06A77D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641080" y="1920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6A77D"/>
                </a:solidFill>
                <a:latin typeface="Calibri"/>
              </a:rPr>
              <a:t>Yes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7160" y="4828032"/>
            <a:ext cx="8778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4748B"/>
                </a:solidFill>
                <a:latin typeface="Calibri"/>
              </a:rPr>
              <a:t>Each tier fires ONLY if the preceding tier fails to extract all required fields (title, price, rating, delivery, stock, image).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4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  <a:latin typeface="Courier New"/>
              </a:rPr>
              <a:t>SECTION 07 — 7.3  UML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ourier New"/>
              </a:rPr>
              <a:t>ShopIntel  |  AI Product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UML — Sequence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End-to-end message flow for a product comparison request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17320"/>
            <a:ext cx="1188720" cy="457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User
(Browser)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1832" y="1874519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1832" y="21031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41832" y="23317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1832" y="25603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41832" y="27889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1832" y="30175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41832" y="32461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1832" y="34747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1832" y="37033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1832" y="39319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1832" y="41605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1832" y="43891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1832" y="46177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1832" y="48463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83080" y="1417320"/>
            <a:ext cx="1188720" cy="4572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SPA
Frontend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59152" y="1874519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59152" y="21031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59152" y="23317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59152" y="25603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59152" y="27889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359152" y="30175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59152" y="32461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59152" y="34747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59152" y="37033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59152" y="39319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59152" y="41605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359152" y="43891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359152" y="46177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359152" y="48463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46120" y="1417320"/>
            <a:ext cx="1188720" cy="457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FastAPI
Backend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22191" y="1874519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22191" y="21031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822191" y="23317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822191" y="25603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822191" y="27889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822191" y="30175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22191" y="32461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822191" y="34747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822191" y="37033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822191" y="39319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22191" y="41605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822191" y="43891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822191" y="46177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822191" y="48463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754880" y="1417320"/>
            <a:ext cx="1188720" cy="45720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Extraction
Engine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30952" y="1874519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330952" y="21031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0952" y="23317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330952" y="25603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330952" y="27889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30952" y="30175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30952" y="32461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30952" y="34747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30952" y="37033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330952" y="39319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30952" y="41605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330952" y="43891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330952" y="46177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330952" y="48463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172200" y="1417320"/>
            <a:ext cx="1188720" cy="45720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MCDA
Scorer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748272" y="1874519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48272" y="21031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48272" y="23317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48272" y="25603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48272" y="27889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48272" y="30175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48272" y="32461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748272" y="34747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48272" y="37033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48272" y="39319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48272" y="41605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48272" y="43891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748272" y="46177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48272" y="48463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80960" y="1417320"/>
            <a:ext cx="1188720" cy="457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E-Commerce
Platforms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57032" y="1874519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257032" y="21031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257032" y="23317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257032" y="25603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257032" y="27889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57032" y="30175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57032" y="32461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57032" y="34747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57032" y="37033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257032" y="39319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57032" y="41605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257032" y="43891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257032" y="46177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257032" y="4846320"/>
            <a:ext cx="18288" cy="1463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>
            <a:off x="960120" y="1965960"/>
            <a:ext cx="1417320" cy="0"/>
          </a:xfrm>
          <a:prstGeom prst="line">
            <a:avLst/>
          </a:prstGeom>
          <a:ln w="16510">
            <a:solidFill>
              <a:srgbClr val="0D1B3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978408" y="1801368"/>
            <a:ext cx="1380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0D1B3E"/>
                </a:solidFill>
                <a:latin typeface="Calibri"/>
              </a:rPr>
              <a:t>1. Enter URLs + click Compare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2377440" y="2240280"/>
            <a:ext cx="1463040" cy="0"/>
          </a:xfrm>
          <a:prstGeom prst="line">
            <a:avLst/>
          </a:prstGeom>
          <a:ln w="16510">
            <a:solidFill>
              <a:srgbClr val="7B2D8B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2395728" y="2075688"/>
            <a:ext cx="14264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7B2D8B"/>
                </a:solidFill>
                <a:latin typeface="Calibri"/>
              </a:rPr>
              <a:t>2. POST /api/compare {urls:[...]}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3840480" y="2514600"/>
            <a:ext cx="1508760" cy="0"/>
          </a:xfrm>
          <a:prstGeom prst="line">
            <a:avLst/>
          </a:prstGeom>
          <a:ln w="16510">
            <a:solidFill>
              <a:srgbClr val="0D1B3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3858768" y="2350008"/>
            <a:ext cx="14721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0D1B3E"/>
                </a:solidFill>
                <a:latin typeface="Calibri"/>
              </a:rPr>
              <a:t>3. cascade_extract(url) async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5349240" y="2788920"/>
            <a:ext cx="2926080" cy="0"/>
          </a:xfrm>
          <a:prstGeom prst="line">
            <a:avLst/>
          </a:prstGeom>
          <a:ln w="16510">
            <a:solidFill>
              <a:srgbClr val="06A77D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5367528" y="2624327"/>
            <a:ext cx="28895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06A77D"/>
                </a:solidFill>
                <a:latin typeface="Calibri"/>
              </a:rPr>
              <a:t>4. HTTP GET (platform URL)</a:t>
            </a:r>
          </a:p>
        </p:txBody>
      </p:sp>
      <p:cxnSp>
        <p:nvCxnSpPr>
          <p:cNvPr id="108" name="Connector 107"/>
          <p:cNvCxnSpPr/>
          <p:nvPr/>
        </p:nvCxnSpPr>
        <p:spPr>
          <a:xfrm flipH="1">
            <a:off x="5349240" y="3063240"/>
            <a:ext cx="2926080" cy="0"/>
          </a:xfrm>
          <a:prstGeom prst="line">
            <a:avLst/>
          </a:prstGeom>
          <a:ln w="16510">
            <a:solidFill>
              <a:srgbClr val="F4A26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5367528" y="2898648"/>
            <a:ext cx="28895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4A261"/>
                </a:solidFill>
                <a:latin typeface="Calibri"/>
              </a:rPr>
              <a:t>5. HTML / JSON response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349240" y="3337560"/>
            <a:ext cx="411480" cy="1828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760720" y="3337560"/>
            <a:ext cx="18288" cy="20116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5349240" y="3538728"/>
            <a:ext cx="411480" cy="1828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806440" y="32461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6A77D"/>
                </a:solidFill>
                <a:latin typeface="Calibri"/>
              </a:rPr>
              <a:t>6. 6-tier extraction loop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5349240" y="3611880"/>
            <a:ext cx="1417320" cy="0"/>
          </a:xfrm>
          <a:prstGeom prst="line">
            <a:avLst/>
          </a:prstGeom>
          <a:ln w="16510">
            <a:solidFill>
              <a:srgbClr val="06A77D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5367528" y="3447288"/>
            <a:ext cx="138074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06A77D"/>
                </a:solidFill>
                <a:latin typeface="Calibri"/>
              </a:rPr>
              <a:t>7. compute_score(data, context)</a:t>
            </a:r>
          </a:p>
        </p:txBody>
      </p:sp>
      <p:cxnSp>
        <p:nvCxnSpPr>
          <p:cNvPr id="116" name="Connector 115"/>
          <p:cNvCxnSpPr/>
          <p:nvPr/>
        </p:nvCxnSpPr>
        <p:spPr>
          <a:xfrm flipH="1">
            <a:off x="3840480" y="3886200"/>
            <a:ext cx="2926080" cy="0"/>
          </a:xfrm>
          <a:prstGeom prst="line">
            <a:avLst/>
          </a:prstGeom>
          <a:ln w="16510">
            <a:solidFill>
              <a:srgbClr val="06A77D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3858768" y="3721608"/>
            <a:ext cx="28895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06A77D"/>
                </a:solidFill>
                <a:latin typeface="Calibri"/>
              </a:rPr>
              <a:t>8. ranked [ProductData + score]</a:t>
            </a:r>
          </a:p>
        </p:txBody>
      </p:sp>
      <p:cxnSp>
        <p:nvCxnSpPr>
          <p:cNvPr id="118" name="Connector 117"/>
          <p:cNvCxnSpPr/>
          <p:nvPr/>
        </p:nvCxnSpPr>
        <p:spPr>
          <a:xfrm flipH="1">
            <a:off x="2377440" y="4160520"/>
            <a:ext cx="1463040" cy="0"/>
          </a:xfrm>
          <a:prstGeom prst="line">
            <a:avLst/>
          </a:prstGeom>
          <a:ln w="16510">
            <a:solidFill>
              <a:srgbClr val="7B2D8B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2395728" y="3995928"/>
            <a:ext cx="14264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7B2D8B"/>
                </a:solidFill>
                <a:latin typeface="Calibri"/>
              </a:rPr>
              <a:t>9. JSON 200 OK</a:t>
            </a:r>
          </a:p>
        </p:txBody>
      </p:sp>
      <p:cxnSp>
        <p:nvCxnSpPr>
          <p:cNvPr id="120" name="Connector 119"/>
          <p:cNvCxnSpPr/>
          <p:nvPr/>
        </p:nvCxnSpPr>
        <p:spPr>
          <a:xfrm flipH="1">
            <a:off x="960120" y="4434840"/>
            <a:ext cx="1417320" cy="0"/>
          </a:xfrm>
          <a:prstGeom prst="line">
            <a:avLst/>
          </a:prstGeom>
          <a:ln w="16510">
            <a:solidFill>
              <a:srgbClr val="7B2D8B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978408" y="4270248"/>
            <a:ext cx="1380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7B2D8B"/>
                </a:solidFill>
                <a:latin typeface="Calibri"/>
              </a:rPr>
              <a:t>10. renderResults() + animateRings()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960120" y="4663440"/>
            <a:ext cx="1417320" cy="0"/>
          </a:xfrm>
          <a:prstGeom prst="line">
            <a:avLst/>
          </a:prstGeom>
          <a:ln w="16510">
            <a:solidFill>
              <a:srgbClr val="0D1B3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978408" y="4498848"/>
            <a:ext cx="1380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0D1B3E"/>
                </a:solidFill>
                <a:latin typeface="Calibri"/>
              </a:rPr>
              <a:t>11. click 'Add to Wishlist'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4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  <a:latin typeface="Courier New"/>
              </a:rPr>
              <a:t>SECTION 07 — 7.3  UML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ourier New"/>
              </a:rPr>
              <a:t>ShopIntel  |  AI Product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UML — Entity Relationship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Logical data model for ShopIntel entities (localStorage + in-memory)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" y="1417320"/>
            <a:ext cx="2331720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1417320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ComparisonSession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709928"/>
            <a:ext cx="2331720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1746504"/>
            <a:ext cx="22219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B2D8B"/>
                </a:solidFill>
                <a:latin typeface="Courier New"/>
              </a:rPr>
              <a:t>PK  session_id: UUID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1947672"/>
            <a:ext cx="22219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created_at: datetime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2148840"/>
            <a:ext cx="22219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user_agent: str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" y="2350008"/>
            <a:ext cx="22219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ip_hash: str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71800" y="1417320"/>
            <a:ext cx="2743200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14173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Product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71800" y="1709928"/>
            <a:ext cx="274320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746504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B2D8B"/>
                </a:solidFill>
                <a:latin typeface="Courier New"/>
              </a:rPr>
              <a:t>PK  product_id: UUID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44952" y="1947672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4A261"/>
                </a:solidFill>
                <a:latin typeface="Courier New"/>
              </a:rPr>
              <a:t>FK  session_id: UUID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44952" y="2148840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title: str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44952" y="2350008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price: float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44952" y="2551176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platform: str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4952" y="2752344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url: str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4952" y="2953512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in_stock: bool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1417320"/>
            <a:ext cx="2468880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41732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ScoreResult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1709928"/>
            <a:ext cx="24688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65392" y="1746504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B2D8B"/>
                </a:solidFill>
                <a:latin typeface="Courier New"/>
              </a:rPr>
              <a:t>PK  score_id: UUID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1947672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4A261"/>
                </a:solidFill>
                <a:latin typeface="Courier New"/>
              </a:rPr>
              <a:t>FK  product_id: UUID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5392" y="2148840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total_score: float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2350008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price_score: float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2551176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rating_score: float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2752344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stock_score: float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3730752"/>
            <a:ext cx="2331720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880" y="3730752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WishlistItem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4023360"/>
            <a:ext cx="2331720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6032" y="4059936"/>
            <a:ext cx="22219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B2D8B"/>
                </a:solidFill>
                <a:latin typeface="Courier New"/>
              </a:rPr>
              <a:t>PK  item_id: UUID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032" y="4261104"/>
            <a:ext cx="22219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4A261"/>
                </a:solidFill>
                <a:latin typeface="Courier New"/>
              </a:rPr>
              <a:t>FK  product_id: UUID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" y="4462272"/>
            <a:ext cx="22219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added_at: datetime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6032" y="4663440"/>
            <a:ext cx="22219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note: str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71800" y="3730752"/>
            <a:ext cx="2743200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71800" y="373075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Rating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71800" y="4023360"/>
            <a:ext cx="27432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44952" y="4059936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B2D8B"/>
                </a:solidFill>
                <a:latin typeface="Courier New"/>
              </a:rPr>
              <a:t>PK  rating_id: UUID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44952" y="4261104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4A261"/>
                </a:solidFill>
                <a:latin typeface="Courier New"/>
              </a:rPr>
              <a:t>FK  product_id: UUID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44952" y="4462272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stars: float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44952" y="4663440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review_count: 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44952" y="4864608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source: str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2240" y="3730752"/>
            <a:ext cx="2468880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373075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Platform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4023360"/>
            <a:ext cx="2468880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65392" y="4059936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B2D8B"/>
                </a:solidFill>
                <a:latin typeface="Courier New"/>
              </a:rPr>
              <a:t>PK  platform_id: str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65392" y="4261104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name: str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65392" y="4462272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base_url: str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65392" y="4663440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ourier New"/>
              </a:rPr>
              <a:t>extractor_tier: int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514600" y="2011680"/>
            <a:ext cx="457200" cy="0"/>
          </a:xfrm>
          <a:prstGeom prst="line">
            <a:avLst/>
          </a:prstGeom>
          <a:ln w="19050">
            <a:solidFill>
              <a:srgbClr val="0D1B3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542032" y="1837943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1B3E"/>
                </a:solidFill>
                <a:latin typeface="Calibri"/>
              </a:rPr>
              <a:t>1..*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715000" y="2011680"/>
            <a:ext cx="777240" cy="0"/>
          </a:xfrm>
          <a:prstGeom prst="line">
            <a:avLst/>
          </a:prstGeom>
          <a:ln w="19050">
            <a:solidFill>
              <a:srgbClr val="06A77D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742432" y="1837943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A77D"/>
                </a:solidFill>
                <a:latin typeface="Calibri"/>
              </a:rPr>
              <a:t>1..1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343400" y="3191256"/>
            <a:ext cx="0" cy="539496"/>
          </a:xfrm>
          <a:prstGeom prst="line">
            <a:avLst/>
          </a:prstGeom>
          <a:ln w="19050">
            <a:solidFill>
              <a:srgbClr val="00B4D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4407408" y="329184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D8"/>
                </a:solidFill>
                <a:latin typeface="Calibri"/>
              </a:rPr>
              <a:t>1..*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3886200" y="3191256"/>
            <a:ext cx="0" cy="539496"/>
          </a:xfrm>
          <a:prstGeom prst="line">
            <a:avLst/>
          </a:prstGeom>
          <a:ln w="19050">
            <a:solidFill>
              <a:srgbClr val="F4A26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3456432" y="329184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4A261"/>
                </a:solidFill>
                <a:latin typeface="Calibri"/>
              </a:rPr>
              <a:t>1..*</a:t>
            </a:r>
          </a:p>
        </p:txBody>
      </p:sp>
      <p:cxnSp>
        <p:nvCxnSpPr>
          <p:cNvPr id="66" name="Connector 65"/>
          <p:cNvCxnSpPr/>
          <p:nvPr/>
        </p:nvCxnSpPr>
        <p:spPr>
          <a:xfrm flipH="1" flipV="1">
            <a:off x="5715000" y="2377440"/>
            <a:ext cx="777240" cy="1645920"/>
          </a:xfrm>
          <a:prstGeom prst="line">
            <a:avLst/>
          </a:prstGeom>
          <a:ln w="19050">
            <a:solidFill>
              <a:srgbClr val="7B2D8B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760720" y="301752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2D8B"/>
                </a:solidFill>
                <a:latin typeface="Calibri"/>
              </a:rPr>
              <a:t>1..*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4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  <a:latin typeface="Courier New"/>
              </a:rPr>
              <a:t>SECTION 07 — 7.4 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ourier New"/>
              </a:rPr>
              <a:t>ShopIntel  |  AI Product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Algorithm — MCDA Scoring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Multi-Criteria Decision Analysis: weighted normalised scoring for product ranking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5029200" cy="34930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463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ourier New"/>
              </a:rPr>
              <a:t>MCDA_Score(products[])  —  Pseudocode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783080"/>
            <a:ext cx="48006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INPUT:  products[] — List[ProductData]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956816"/>
            <a:ext cx="48006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OUTPUT: ranked[]   — sorted by score DESC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130552"/>
            <a:ext cx="48006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304288"/>
            <a:ext cx="48006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4A261"/>
                </a:solidFill>
                <a:latin typeface="Courier New"/>
              </a:rPr>
              <a:t>WEIGHTS: wp=0.35  wr=0.25  wd=0.15  ws=0.15  wc=0.10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478024"/>
            <a:ext cx="48006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2651760"/>
            <a:ext cx="48006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ourier New"/>
              </a:rPr>
              <a:t>min_price &lt;- min(p.price for p in products)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2825496"/>
            <a:ext cx="48006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ourier New"/>
              </a:rPr>
              <a:t>max_price &lt;- max(p.price for p in products)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2999232"/>
            <a:ext cx="48006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3172968"/>
            <a:ext cx="48006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B4D8"/>
                </a:solidFill>
                <a:latin typeface="Courier New"/>
              </a:rPr>
              <a:t>FOR EACH product p IN products: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3346704"/>
            <a:ext cx="48006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ourier New"/>
              </a:rPr>
              <a:t>  Sp &lt;- 1 - (p.price - min_p)/(max_p - min_p)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3520439"/>
            <a:ext cx="48006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ourier New"/>
              </a:rPr>
              <a:t>  Sr &lt;- p.rating / 5.0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694176"/>
            <a:ext cx="48006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ourier New"/>
              </a:rPr>
              <a:t>  Sd &lt;- delivery_score(p.delivery_days)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3867912"/>
            <a:ext cx="48006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ourier New"/>
              </a:rPr>
              <a:t>  Ss &lt;- 1.0 IF p.in_stock ELSE 0.0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4041648"/>
            <a:ext cx="48006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ourier New"/>
              </a:rPr>
              <a:t>  Sc &lt;- log10(p.reviews+1) / log10(MAX_REVIEWS)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4215384"/>
            <a:ext cx="48006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6A77D"/>
                </a:solidFill>
                <a:latin typeface="Courier New"/>
              </a:rPr>
              <a:t>  score &lt;- wp*Sp + wr*Sr + wd*Sd + ws*Ss + wc*Sc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4389120"/>
            <a:ext cx="48006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6A77D"/>
                </a:solidFill>
                <a:latin typeface="Courier New"/>
              </a:rPr>
              <a:t>  score &lt;- round(score * 100, 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4562856"/>
            <a:ext cx="48006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ourier New"/>
              </a:rPr>
              <a:t>  p.score &lt;-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4736592"/>
            <a:ext cx="48006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4910328"/>
            <a:ext cx="48006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B4D8"/>
                </a:solidFill>
                <a:latin typeface="Courier New"/>
              </a:rPr>
              <a:t>RETURN SORT products BY score DESC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1417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Scoring Formula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32120" y="1719072"/>
            <a:ext cx="3493008" cy="5669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96128" y="1783080"/>
            <a:ext cx="3364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E293B"/>
                </a:solidFill>
                <a:latin typeface="Courier New"/>
              </a:rPr>
              <a:t>Score = 0.35*Sp + 0.25*Sr + 0.15*Sd + 0.15*Ss + 0.10*Sc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5532120" y="2331720"/>
          <a:ext cx="349300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188720"/>
                <a:gridCol w="548640"/>
                <a:gridCol w="1252728"/>
              </a:tblGrid>
              <a:tr h="297180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Symbol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Criterion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Weight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Normalisation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Calibri"/>
                        </a:rPr>
                        <a:t>Price Advantage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Calibri"/>
                        </a:rPr>
                        <a:t>1-(p-min)/(max-min)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Calibri"/>
                        </a:rPr>
                        <a:t>Sr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Calibri"/>
                        </a:rPr>
                        <a:t>Star Rating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Calibri"/>
                        </a:rPr>
                        <a:t>rating / 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Calibri"/>
                        </a:rPr>
                        <a:t>Sd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Calibri"/>
                        </a:rPr>
                        <a:t>Delivery Speed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Calibri"/>
                        </a:rPr>
                        <a:t>1.0(same day)-&gt;0.1(7+days)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Calibri"/>
                        </a:rPr>
                        <a:t>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Calibri"/>
                        </a:rPr>
                        <a:t>Stock Availability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Calibri"/>
                        </a:rPr>
                        <a:t>1.0=in-stock | 0.0=out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Calibri"/>
                        </a:rPr>
                        <a:t>Review Volume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Calibri"/>
                        </a:rPr>
                        <a:t>log10(reviews+1)/log10(MAX)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5532120" y="4151376"/>
            <a:ext cx="3493008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96128" y="4187952"/>
            <a:ext cx="3364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ourier New"/>
              </a:rPr>
              <a:t>Time Complexity:   O(n)  —  linear in products
Space Complexity:  O(n)  —  scored list in memory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32120" y="4681728"/>
            <a:ext cx="3493008" cy="2011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59552" y="4690872"/>
            <a:ext cx="3456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B4D8"/>
                </a:solidFill>
                <a:latin typeface="Courier New"/>
              </a:rPr>
              <a:t>delivery_score():  same-day=1.0 | 1d=0.85 | 2-3d=0.65 | 4-6d=0.40 | 7+d=0.10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13892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2560320"/>
            <a:ext cx="8942832" cy="36576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A77D"/>
                </a:solidFill>
                <a:latin typeface="Courier New"/>
              </a:rPr>
              <a:t>SECTION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331720"/>
            <a:ext cx="8321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 Light"/>
              </a:rPr>
              <a:t>Implementation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246120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B8CC"/>
                </a:solidFill>
                <a:latin typeface="Calibri"/>
              </a:rPr>
              <a:t>Tech Stack  ·  Code Mapping  ·  API Flow  ·  Version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00600"/>
            <a:ext cx="8321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urier New"/>
              </a:rPr>
              <a:t>ShopIntel  |  AI-Powered Multi-Platform Product Comparison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4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  <a:latin typeface="Courier New"/>
              </a:rPr>
              <a:t>SECTION 08 — 8.1 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ourier New"/>
              </a:rPr>
              <a:t>ShopIntel  |  AI Product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Layer-Wise Technology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Libraries, frameworks and tools used at each tier of ShopIntel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2788920" cy="36576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41732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PRESENTATION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828800"/>
            <a:ext cx="2788920" cy="493776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86537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2D8B"/>
                </a:solidFill>
                <a:latin typeface="Calibri"/>
              </a:rPr>
              <a:t>Language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2066543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HTML5, CSS3 (custom properties), Vanilla JS ES2022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340864"/>
            <a:ext cx="2788920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23774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2D8B"/>
                </a:solidFill>
                <a:latin typeface="Calibri"/>
              </a:rPr>
              <a:t>SPA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257860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Zero-dependency SPA — no npm, no bundler, no React needed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852928"/>
            <a:ext cx="2788920" cy="493776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288950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2D8B"/>
                </a:solidFill>
                <a:latin typeface="Calibri"/>
              </a:rPr>
              <a:t>Animations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309067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HTML5 Canvas API, CSS @keyframes, requestAnimationFrame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364992"/>
            <a:ext cx="2788920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340156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2D8B"/>
                </a:solidFill>
                <a:latin typeface="Calibri"/>
              </a:rPr>
              <a:t>Charts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" y="360273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SVG radial rings (stroke-dasharray), inline gradient animation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877056"/>
            <a:ext cx="2788920" cy="493776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39136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2D8B"/>
                </a:solidFill>
                <a:latin typeface="Calibri"/>
              </a:rPr>
              <a:t>Storage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" y="4114800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Web localStorage API — wishlist persistence client-side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389120"/>
            <a:ext cx="2788920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442569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2D8B"/>
                </a:solidFill>
                <a:latin typeface="Calibri"/>
              </a:rPr>
              <a:t>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" y="4626864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Cloudflare Turnstile v2 CAPTCHA widget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1417320"/>
            <a:ext cx="2788920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0" y="141732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1828800"/>
            <a:ext cx="2788920" cy="493776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73552" y="186537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1B3E"/>
                </a:solidFill>
                <a:latin typeface="Calibri"/>
              </a:rPr>
              <a:t>Framework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73552" y="2066543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FastAPI 0.115  (Python 3.12)  async REST API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2340864"/>
            <a:ext cx="2788920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73552" y="23774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1B3E"/>
                </a:solidFill>
                <a:latin typeface="Calibri"/>
              </a:rPr>
              <a:t>ASGI Server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73552" y="257860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Uvicorn (dev)  |  Gunicorn + Uvicorn workers (prod)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2852928"/>
            <a:ext cx="2788920" cy="493776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73552" y="288950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1B3E"/>
                </a:solidFill>
                <a:latin typeface="Calibri"/>
              </a:rPr>
              <a:t>HTTP Client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73552" y="309067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aiohttp (async parallel)  +  requests (sync fallback)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0" y="3364992"/>
            <a:ext cx="2788920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73552" y="340156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1B3E"/>
                </a:solidFill>
                <a:latin typeface="Calibri"/>
              </a:rPr>
              <a:t>Parser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73552" y="360273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BeautifulSoup4 (lxml)  +  regex  +  json.loads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0" y="3877056"/>
            <a:ext cx="2788920" cy="493776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73552" y="39136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1B3E"/>
                </a:solidFill>
                <a:latin typeface="Calibri"/>
              </a:rPr>
              <a:t>Compression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73552" y="4114800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brotli library — Flipkart Brotli decompression support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0" y="4389120"/>
            <a:ext cx="2788920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73552" y="442569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1B3E"/>
                </a:solidFill>
                <a:latin typeface="Calibri"/>
              </a:rPr>
              <a:t>Validation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73552" y="4626864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Pydantic v2 — request/response schema &amp; URL validation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1417320"/>
            <a:ext cx="2788920" cy="36576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0" y="141732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DATA  /  INFRA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1828800"/>
            <a:ext cx="2788920" cy="493776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99632" y="186537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A77D"/>
                </a:solidFill>
                <a:latin typeface="Calibri"/>
              </a:rPr>
              <a:t>Platforms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99632" y="2066543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Amazon.in, Flipkart, Myntra, Puma.in, Souled Store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26480" y="2340864"/>
            <a:ext cx="2788920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99632" y="23774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A77D"/>
                </a:solidFill>
                <a:latin typeface="Calibri"/>
              </a:rPr>
              <a:t>Data Format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99632" y="257860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HTML DOM  +  JSON-LD (Schema.org)  +  window.__myx (Myntra)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6480" y="2852928"/>
            <a:ext cx="2788920" cy="493776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99632" y="288950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A77D"/>
                </a:solidFill>
                <a:latin typeface="Calibri"/>
              </a:rPr>
              <a:t>Caching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99632" y="309067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In-memory dict per request (no persistent DB)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26480" y="3364992"/>
            <a:ext cx="2788920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99632" y="340156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A77D"/>
                </a:solidFill>
                <a:latin typeface="Calibri"/>
              </a:rPr>
              <a:t>Env Config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99632" y="360273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python-dotenv (.env) for API keys &amp; CORS origins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26480" y="3877056"/>
            <a:ext cx="2788920" cy="493776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99632" y="39136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A77D"/>
                </a:solidFill>
                <a:latin typeface="Calibri"/>
              </a:rPr>
              <a:t>Dev Tools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99632" y="4114800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VS Code, Postman (API testing), Chrome DevTools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26480" y="4389120"/>
            <a:ext cx="2788920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99632" y="442569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A77D"/>
                </a:solidFill>
                <a:latin typeface="Calibri"/>
              </a:rPr>
              <a:t>Version Ctrl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99632" y="4626864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Git + GitHub — semantic versioning (v1.0 → v2.0)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4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  <a:latin typeface="Courier New"/>
              </a:rPr>
              <a:t>SECTION 08 — 8.2  CODE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ourier New"/>
              </a:rPr>
              <a:t>ShopIntel  |  AI Product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Module to Code Mapping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Tracing logical modules to physical files and functions in the codebase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417320"/>
          <a:ext cx="80467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737360"/>
                <a:gridCol w="4160520"/>
                <a:gridCol w="77724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Key Functions / Classes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Lines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URL Validator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main.py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ProductRequest (Pydantic), domain whitelist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1-60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Anti-Bot Headers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main.py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make_headers(), rotate_user_agent()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61-130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HTTP Fetcher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main.py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fetch_html(url), aiohttp.ClientSession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131-200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Cascade Extractor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main.py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cascade_extract(), extract_amazon(),
extract_flipkart(), extract_myntra()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201-900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MCDA Scorer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main.py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compute_score(), normalize_price(),
delivery_score()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901-1050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REST API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main.py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@app.post('/api/compare'), @app.get('/api/health')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1051-1150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SPA View Router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shopintel_ai_v2.html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showPage(id), navLinks click handlers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JS 1-120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Comparison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shopintel_ai_v2.html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renderResults(data), buildCompareCard()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JS 121-400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Wishlist Manager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shopintel_ai_v2.html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addToWishlist(), removeFromWishlist()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JS 401-560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Analytics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shopintel_ai_v2.html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initCanvas(), drawParticles(), tiltCard()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JS 561-900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SVG Score Rings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shopintel_ai_v2.html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animateRing(), stroke-dashoffset calculation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JS 901-1100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Responsive CSS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shopintel_ai_v2.html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@media (max-width:920px), .g2/.g3/.g4 grids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CSS 1-600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74320" y="4828032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alibri"/>
              </a:rPr>
              <a:t>All backend code is in Server/backend/main.py (73.9 KB, ~1150 lines).  Frontend: shopintel_ai_v2.html (176 KB, single file).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4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  <a:latin typeface="Courier New"/>
              </a:rPr>
              <a:t>SECTION 08 — 8.3  API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ourier New"/>
              </a:rPr>
              <a:t>ShopIntel  |  AI Product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Data Handling &amp; API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Request-response lifecycle and JSON payload specification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4389120" cy="34930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463040"/>
            <a:ext cx="41696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ourier New"/>
              </a:rPr>
              <a:t>API Schema  —  POST /api/compare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783080"/>
            <a:ext cx="41696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4A261"/>
                </a:solidFill>
                <a:latin typeface="Courier New"/>
              </a:rPr>
              <a:t>REQUEST BODY (JSON):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929384"/>
            <a:ext cx="41696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FFFFF"/>
                </a:solidFill>
                <a:latin typeface="Courier New"/>
              </a:rPr>
              <a:t>{  "urls": [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075688"/>
            <a:ext cx="41696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E2E8F0"/>
                </a:solidFill>
                <a:latin typeface="Courier New"/>
              </a:rPr>
              <a:t>    "https://amazon.in/dp/...",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221991"/>
            <a:ext cx="41696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E2E8F0"/>
                </a:solidFill>
                <a:latin typeface="Courier New"/>
              </a:rPr>
              <a:t>    "https://flipkart.com/..."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368296"/>
            <a:ext cx="41696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FFFFF"/>
                </a:solidFill>
                <a:latin typeface="Courier New"/>
              </a:rPr>
              <a:t>]  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2514600"/>
            <a:ext cx="41696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2660904"/>
            <a:ext cx="41696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06A77D"/>
                </a:solidFill>
                <a:latin typeface="Courier New"/>
              </a:rPr>
              <a:t>RESPONSE 200 OK (JSON):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2807208"/>
            <a:ext cx="41696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FFFFF"/>
                </a:solidFill>
                <a:latin typeface="Courier New"/>
              </a:rPr>
              <a:t>{  "results": [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2953512"/>
            <a:ext cx="41696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E2E8F0"/>
                </a:solidFill>
                <a:latin typeface="Courier New"/>
              </a:rPr>
              <a:t>  { "title":    "...",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3099815"/>
            <a:ext cx="41696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E2E8F0"/>
                </a:solidFill>
                <a:latin typeface="Courier New"/>
              </a:rPr>
              <a:t>    "price":    1299.0,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3246120"/>
            <a:ext cx="41696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E2E8F0"/>
                </a:solidFill>
                <a:latin typeface="Courier New"/>
              </a:rPr>
              <a:t>    "rating":   4.2,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392424"/>
            <a:ext cx="41696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E2E8F0"/>
                </a:solidFill>
                <a:latin typeface="Courier New"/>
              </a:rPr>
              <a:t>    "reviews":  8432,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3538728"/>
            <a:ext cx="41696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E2E8F0"/>
                </a:solidFill>
                <a:latin typeface="Courier New"/>
              </a:rPr>
              <a:t>    "delivery": "2 days",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3685032"/>
            <a:ext cx="41696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E2E8F0"/>
                </a:solidFill>
                <a:latin typeface="Courier New"/>
              </a:rPr>
              <a:t>    "in_stock": true,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3831336"/>
            <a:ext cx="41696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E2E8F0"/>
                </a:solidFill>
                <a:latin typeface="Courier New"/>
              </a:rPr>
              <a:t>    "score":    78.4,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3977639"/>
            <a:ext cx="41696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E2E8F0"/>
                </a:solidFill>
                <a:latin typeface="Courier New"/>
              </a:rPr>
              <a:t>    "platform": "amazon",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4123944"/>
            <a:ext cx="41696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E2E8F0"/>
                </a:solidFill>
                <a:latin typeface="Courier New"/>
              </a:rPr>
              <a:t>    "image_url":"..." 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4270248"/>
            <a:ext cx="41696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FFFFF"/>
                </a:solidFill>
                <a:latin typeface="Courier New"/>
              </a:rPr>
              <a:t>]  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4416552"/>
            <a:ext cx="41696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4562856"/>
            <a:ext cx="41696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00B4D8"/>
                </a:solidFill>
                <a:latin typeface="Courier New"/>
              </a:rPr>
              <a:t>GET /api/health -&gt; {status:ok}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141732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Data Transformation Pipeline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0" y="1737360"/>
            <a:ext cx="3931920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937760" y="1737360"/>
            <a:ext cx="54864" cy="274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47488" y="1783080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1  Raw URL string input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903720" y="2011679"/>
            <a:ext cx="0" cy="27433"/>
          </a:xfrm>
          <a:prstGeom prst="line">
            <a:avLst/>
          </a:prstGeom>
          <a:ln w="12700">
            <a:solidFill>
              <a:srgbClr val="0D1B3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4937760" y="2039112"/>
            <a:ext cx="3931920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937760" y="2039112"/>
            <a:ext cx="54864" cy="27432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47488" y="2084831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2  URL validation + platform domain detection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903720" y="2313432"/>
            <a:ext cx="0" cy="27432"/>
          </a:xfrm>
          <a:prstGeom prst="line">
            <a:avLst/>
          </a:prstGeom>
          <a:ln w="12700">
            <a:solidFill>
              <a:srgbClr val="7B2D8B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4937760" y="2340864"/>
            <a:ext cx="3931920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937760" y="2340864"/>
            <a:ext cx="54864" cy="274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47488" y="2386584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3  Async HTTP fetch (5 platforms in parallel)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903720" y="2615184"/>
            <a:ext cx="0" cy="27432"/>
          </a:xfrm>
          <a:prstGeom prst="line">
            <a:avLst/>
          </a:prstGeom>
          <a:ln w="12700">
            <a:solidFill>
              <a:srgbClr val="0D1B3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4937760" y="2642615"/>
            <a:ext cx="3931920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937760" y="2642615"/>
            <a:ext cx="54864" cy="2743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47488" y="2688335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4  Brotli/gzip decode -&gt; raw HTML string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903720" y="2916935"/>
            <a:ext cx="0" cy="27433"/>
          </a:xfrm>
          <a:prstGeom prst="line">
            <a:avLst/>
          </a:prstGeom>
          <a:ln w="12700">
            <a:solidFill>
              <a:srgbClr val="0077B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937760" y="2944368"/>
            <a:ext cx="3931920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37760" y="2944368"/>
            <a:ext cx="54864" cy="27432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47488" y="2990087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5  6-tier cascade -&gt; ProductData object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903720" y="3218687"/>
            <a:ext cx="0" cy="27433"/>
          </a:xfrm>
          <a:prstGeom prst="line">
            <a:avLst/>
          </a:prstGeom>
          <a:ln w="12700">
            <a:solidFill>
              <a:srgbClr val="06A77D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4937760" y="3246120"/>
            <a:ext cx="3931920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937760" y="3246120"/>
            <a:ext cx="54864" cy="27432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47488" y="3291839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6  MCDA score computation per product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903720" y="3520439"/>
            <a:ext cx="0" cy="27433"/>
          </a:xfrm>
          <a:prstGeom prst="line">
            <a:avLst/>
          </a:prstGeom>
          <a:ln w="12700">
            <a:solidFill>
              <a:srgbClr val="06A77D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4937760" y="3547872"/>
            <a:ext cx="3931920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37760" y="3547872"/>
            <a:ext cx="54864" cy="27432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47488" y="3593591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7  Sort by score DESC -&gt; ranked list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903720" y="3822191"/>
            <a:ext cx="0" cy="27433"/>
          </a:xfrm>
          <a:prstGeom prst="line">
            <a:avLst/>
          </a:prstGeom>
          <a:ln w="12700">
            <a:solidFill>
              <a:srgbClr val="7B2D8B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4937760" y="3849624"/>
            <a:ext cx="3931920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937760" y="3849624"/>
            <a:ext cx="54864" cy="274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47488" y="3895344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8  JSON serialise via Pydantic .dict()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903720" y="4123944"/>
            <a:ext cx="0" cy="27432"/>
          </a:xfrm>
          <a:prstGeom prst="line">
            <a:avLst/>
          </a:prstGeom>
          <a:ln w="12700">
            <a:solidFill>
              <a:srgbClr val="0D1B3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4937760" y="4151376"/>
            <a:ext cx="3931920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937760" y="4151376"/>
            <a:ext cx="54864" cy="27432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47488" y="4197096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9  HTTP 200 response -&gt; SPA fetch() callback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903720" y="4425696"/>
            <a:ext cx="0" cy="27432"/>
          </a:xfrm>
          <a:prstGeom prst="line">
            <a:avLst/>
          </a:prstGeom>
          <a:ln w="12700">
            <a:solidFill>
              <a:srgbClr val="7B2D8B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4937760" y="4453128"/>
            <a:ext cx="3931920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937760" y="4453128"/>
            <a:ext cx="54864" cy="27432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47488" y="4498848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10 renderResults() + animateRing() + localStorage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4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  <a:latin typeface="Courier New"/>
              </a:rPr>
              <a:t>SECTION 08 — 8.4  VERSION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ourier New"/>
              </a:rPr>
              <a:t>ShopIntel  |  AI Product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Version Control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Git &amp; GitHub — branching strategy, commit conventions, release history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4173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Git Branching Strategy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37360"/>
            <a:ext cx="1417320" cy="41148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main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1640" y="1737360"/>
            <a:ext cx="283464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64792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Stable production releases only — tagged versions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286000"/>
            <a:ext cx="1417320" cy="41148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develop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91640" y="2286000"/>
            <a:ext cx="283464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64792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Integration branch — all features merge here first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34639"/>
            <a:ext cx="1417320" cy="41148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feature/*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40" y="2834639"/>
            <a:ext cx="283464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64792" y="29260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Individual feature branches (e.g. feature/mcda)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383279"/>
            <a:ext cx="1417320" cy="411480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hotfix/*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91640" y="3383279"/>
            <a:ext cx="283464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64792" y="3474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Critical bug fixes merged directly to main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931920"/>
            <a:ext cx="1417320" cy="4114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release/v*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91640" y="3931920"/>
            <a:ext cx="283464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64792" y="40233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Release candidates (e.g. release/v2.0)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4498848"/>
            <a:ext cx="4160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3E"/>
                </a:solidFill>
                <a:latin typeface="Calibri"/>
              </a:rPr>
              <a:t>Commit Convention  (Conventional Commits):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736592"/>
            <a:ext cx="4160520" cy="2011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4745736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B4D8"/>
                </a:solidFill>
                <a:latin typeface="Courier New"/>
              </a:rPr>
              <a:t>feat: | fix: | refactor: | style: | docs: | test: | chore: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141732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Release History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1737360"/>
            <a:ext cx="658368" cy="457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v1.0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96128" y="1737360"/>
            <a:ext cx="320040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0" y="1755648"/>
            <a:ext cx="3090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4748B"/>
                </a:solidFill>
                <a:latin typeface="Calibri"/>
              </a:rPr>
              <a:t>Initial Release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1965960"/>
            <a:ext cx="3090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Single-platform scraper, basic results table, no MCDA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266944" y="2194560"/>
            <a:ext cx="0" cy="137160"/>
          </a:xfrm>
          <a:prstGeom prst="line">
            <a:avLst/>
          </a:prstGeom>
          <a:ln w="15240">
            <a:solidFill>
              <a:srgbClr val="64748B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4937760" y="2331720"/>
            <a:ext cx="658368" cy="4572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v1.5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96128" y="2331720"/>
            <a:ext cx="320040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0" y="2350008"/>
            <a:ext cx="3090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7B6"/>
                </a:solidFill>
                <a:latin typeface="Calibri"/>
              </a:rPr>
              <a:t>MCDA Engine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2560320"/>
            <a:ext cx="3090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5-criterion weighted scoring, SVG radial rings, analytics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266944" y="2788920"/>
            <a:ext cx="0" cy="137159"/>
          </a:xfrm>
          <a:prstGeom prst="line">
            <a:avLst/>
          </a:prstGeom>
          <a:ln w="15240">
            <a:solidFill>
              <a:srgbClr val="0077B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4937760" y="2926080"/>
            <a:ext cx="658368" cy="45720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v2.0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96128" y="2926080"/>
            <a:ext cx="320040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0" y="2944368"/>
            <a:ext cx="3090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A77D"/>
                </a:solidFill>
                <a:latin typeface="Calibri"/>
              </a:rPr>
              <a:t>Multi-Platform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0" y="3154680"/>
            <a:ext cx="3090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5-platform async scraping, Brotli fix, Myntra __myx parser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266944" y="3383280"/>
            <a:ext cx="0" cy="137160"/>
          </a:xfrm>
          <a:prstGeom prst="line">
            <a:avLst/>
          </a:prstGeom>
          <a:ln w="15240">
            <a:solidFill>
              <a:srgbClr val="06A77D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4937760" y="3520440"/>
            <a:ext cx="658368" cy="457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v2.1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96128" y="3520440"/>
            <a:ext cx="320040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0" y="3538728"/>
            <a:ext cx="3090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4A261"/>
                </a:solidFill>
                <a:latin typeface="Calibri"/>
              </a:rPr>
              <a:t>Wishlist + Mobile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0" y="3749039"/>
            <a:ext cx="3090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localStorage wishlist, responsive 920px/640px breakpoints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266944" y="3977639"/>
            <a:ext cx="0" cy="137161"/>
          </a:xfrm>
          <a:prstGeom prst="line">
            <a:avLst/>
          </a:prstGeom>
          <a:ln w="15240">
            <a:solidFill>
              <a:srgbClr val="F4A26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4937760" y="4114800"/>
            <a:ext cx="658368" cy="4572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v2.5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96128" y="4114800"/>
            <a:ext cx="320040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0" y="4133087"/>
            <a:ext cx="3090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2D8B"/>
                </a:solidFill>
                <a:latin typeface="Calibri"/>
              </a:rPr>
              <a:t>Anti-Bot + Fallback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0" y="4343400"/>
            <a:ext cx="3090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UA rotation, 6-tier cascade, synthetic fallback engine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138928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2560320"/>
            <a:ext cx="8942832" cy="36576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62246"/>
                </a:solidFill>
                <a:latin typeface="Courier New"/>
              </a:rPr>
              <a:t>SECTION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331720"/>
            <a:ext cx="8321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 Light"/>
              </a:rPr>
              <a:t>Testing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246120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B8CC"/>
                </a:solidFill>
                <a:latin typeface="Calibri"/>
              </a:rPr>
              <a:t>Types of Testing  ·  Test Cases  · 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00600"/>
            <a:ext cx="8321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urier New"/>
              </a:rPr>
              <a:t>ShopIntel  |  AI-Powered Multi-Platform Product Comparison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4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  <a:latin typeface="Courier New"/>
              </a:rPr>
              <a:t>SECTION 09 — 9.1 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ourier New"/>
              </a:rPr>
              <a:t>ShopIntel  |  AI Product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Testing Details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Comprehensive testing strategy covering all system layers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4114800" cy="16276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4114800" cy="292608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46304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Unit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783080"/>
            <a:ext cx="3913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+ schedFIFO, schedRR, schedEDF — return correct item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029968"/>
            <a:ext cx="3913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+ compute_score() — verified against manual calculation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276856"/>
            <a:ext cx="3913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+ normalize_price() — equal prices both score 0.0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523744"/>
            <a:ext cx="3913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+ delivery_score() — same-day = 1.0 confirmed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2770632"/>
            <a:ext cx="3913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+ synthetic_product() — always returns valid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154680"/>
            <a:ext cx="4114800" cy="16276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154680"/>
            <a:ext cx="4114800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320040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Integration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3520440"/>
            <a:ext cx="3913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+ API flow: POST /api/compare -&gt; 200 OK with ranked 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3767328"/>
            <a:ext cx="3913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+ Wishlist: localStorage add/remove/read cycle verified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4014216"/>
            <a:ext cx="3913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+ Flipkart Brotli: decompressed correctly in all test runs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4261104"/>
            <a:ext cx="3913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+ Myntra: window.__myx parsed and title/price extracted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4507992"/>
            <a:ext cx="3913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+ Puma: CDN image fallback to og:image confirmed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417320"/>
            <a:ext cx="4160520" cy="16276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63440" y="1417320"/>
            <a:ext cx="4160520" cy="29260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1463040"/>
            <a:ext cx="39776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API / System 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3168" y="1783080"/>
            <a:ext cx="394106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+ Full lifecycle: URL input -&gt; scrape -&gt; score -&gt; render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73168" y="2029968"/>
            <a:ext cx="394106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+ 5-platform request: all 5 ProductData objects returned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2276856"/>
            <a:ext cx="394106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+ Health endpoint: GET /api/health -&gt; {status: ok}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73168" y="2523744"/>
            <a:ext cx="394106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+ Error: empty URL array -&gt; HTTP 422 returned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73168" y="2770632"/>
            <a:ext cx="394106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+ Error: non-whitelisted domain -&gt; HTTP 400 returned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3154680"/>
            <a:ext cx="4160520" cy="16276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63440" y="3154680"/>
            <a:ext cx="4160520" cy="2926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36592" y="3200400"/>
            <a:ext cx="39776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Responsiveness Testing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73168" y="3520440"/>
            <a:ext cx="394106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+ Desktop 1920x1080: 3-column comparison grid 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73168" y="3767328"/>
            <a:ext cx="394106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+ Tablet 768px: 2-column layout, no horizontal scroll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3168" y="4014216"/>
            <a:ext cx="394106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+ Mobile 375px: single-column stack, no overflow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73168" y="4261104"/>
            <a:ext cx="394106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+ SVG rings: correct dashoffset on all viewports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73168" y="4507992"/>
            <a:ext cx="394106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+ Particle canvas: smooth 60fps on all breakpoints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4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  <a:latin typeface="Courier New"/>
              </a:rPr>
              <a:t>SECTION 09 — 9.1  TEST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ourier New"/>
              </a:rPr>
              <a:t>ShopIntel  |  AI Product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Test Cases — Unit &amp; API Testing  (IEEE 829 Format)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Formal test case specification with expected/actual outputs and pass/fail 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8600" y="1417320"/>
          <a:ext cx="7973568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/>
                <a:gridCol w="685800"/>
                <a:gridCol w="2011680"/>
                <a:gridCol w="1371600"/>
                <a:gridCol w="1600200"/>
                <a:gridCol w="1143000"/>
                <a:gridCol w="594360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TC ID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Test Description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Expected Output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Actual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TC-01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MCDA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Price normalisation — equal prices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prices=[500,500]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Sp=0.0 for both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Sp=0.0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TC-02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MCDA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Price normalisation — min price wins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prices=[500,1000]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Sp(500)=1.0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TC-03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MCDA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Rating normalisation — max rating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rating=5.0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Sr=1.0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Sr=1.0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TC-04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MCDA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Delivery score — same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delivery='Same Day'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Sd=1.0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Sd=1.0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TC-05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MCDA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Stock score — out of stock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in_stock=False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Ss=0.0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Ss=0.0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TC-06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Extract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Platform detect — Amazon 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amazon.in/dp/...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platform='amazon'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'amazon'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TC-07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Extract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Platform detect — unknown domain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unknown.com/...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platform='generic'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'generic'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TC-08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Valid 2-URL POST 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2 valid URLs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HTTP 200 + results[]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HTTP 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TC-09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API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Empty URL array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urls:[]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HTTP 422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HTTP 422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TC-10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Non-whitelisted domain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malicious.com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HTTP 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HTTP 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TC-11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API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Health check endpoint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GET /api/health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{status:'ok'}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{status:'ok'}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TC-12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WL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Add item to localStorage wishlist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Click heart icon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Item saved in 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Saved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TC-13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WL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Remove item from wishlist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Click heart (active)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Item removed from 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Removed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TC-14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Mobile 375px no horizontal scroll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Viewport=375px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No overflow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No overflow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1E293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4828032"/>
            <a:ext cx="8686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06A77D"/>
                </a:solidFill>
                <a:latin typeface="Calibri"/>
              </a:rPr>
              <a:t>TC = Test Case  |  LS = localStorage  |  WL = Wishlist Module  |  All 14 cases: PASS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4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  <a:latin typeface="Courier New"/>
              </a:rPr>
              <a:t>SECTION 09 — 9.1  TEST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ourier New"/>
              </a:rPr>
              <a:t>ShopIntel  |  AI Product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Test Cases — Integration &amp; Performance Testing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Platform-specific integration, load tests, and edge-case scenarios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8600" y="1417320"/>
          <a:ext cx="7882128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/>
                <a:gridCol w="1005840"/>
                <a:gridCol w="1920240"/>
                <a:gridCol w="1325880"/>
                <a:gridCol w="1325880"/>
                <a:gridCol w="1143000"/>
                <a:gridCol w="59436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TC ID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Test Description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Input Condition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Expected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Actual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TC-15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Integration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Flipkart Brotli decoded correctly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Flipkart product URL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Title/price extracted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Extracted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TC-16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Myntra __myx JS state parsed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Myntra product 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Title/price from 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Parsed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TC-17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Integration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Puma CDN fallback to og:image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Puma product URL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image_url present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og:image used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TC-18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All 5 platforms in one 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5 platform URLs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5 ProductData objects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5 results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TC-19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Performance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API response time — 2 products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2 URLs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&lt; 6 seconds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Avg 4.2s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TC-20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API response time — 5 products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5 URLs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&lt; 10 seconds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Avg 7.8s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TC-21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Performance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Frontend Time-to-Interactive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Cold page load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&lt; 1.5 seconds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1.1 seconds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TC-22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Edge 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Scrape fail -&gt; synthetic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Blocked/timeout 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Synthetic product returned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Returned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TC-23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Edge Case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Score with only 1 product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1 URL input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score = 100.0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100.0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TC-24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Edge 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Out-of-stock product rank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in_stock=False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Lower score (Ss=0)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Ss=0.0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TC-25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UI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SVG ring to correct score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score=78.4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dashoffset=283-0.784*283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~61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TC-26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Turnstile bypass attempt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Submit without CAPTCHA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Form blocked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Blocked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1E293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4828032"/>
            <a:ext cx="8686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06A77D"/>
                </a:solidFill>
                <a:latin typeface="Calibri"/>
              </a:rPr>
              <a:t>All 26 test cases verified PASS. Integration tests run on live URLs; performance measured using Postman + browser Network tab.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13892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2560320"/>
            <a:ext cx="8942832" cy="36576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A261"/>
                </a:solidFill>
                <a:latin typeface="Courier New"/>
              </a:rPr>
              <a:t>SECTION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331720"/>
            <a:ext cx="8321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 Light"/>
              </a:rPr>
              <a:t>Deployment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246120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B8CC"/>
                </a:solidFill>
                <a:latin typeface="Calibri"/>
              </a:rPr>
              <a:t>Hosting Platform  ·  Prototype / MVP Demonstration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00600"/>
            <a:ext cx="8321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urier New"/>
              </a:rPr>
              <a:t>ShopIntel  |  AI-Powered Multi-Platform Product Comparison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4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  <a:latin typeface="Courier New"/>
              </a:rPr>
              <a:t>SECTION 10 — 10.1  HOSTING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ourier New"/>
              </a:rPr>
              <a:t>ShopIntel  |  AI Product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Deployment Details — Hosting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Infrastructure choices for backend API and frontend SPA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406908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44752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Backend  ·  FastAPI (Python)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1417320"/>
            <a:ext cx="868680" cy="347472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810512"/>
            <a:ext cx="406908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865376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Runtime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1865376"/>
            <a:ext cx="2944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Python 3.12 — venv isolated environment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94560"/>
            <a:ext cx="4069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2249424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ASGI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249424"/>
            <a:ext cx="2944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Uvicorn (dev)  |  Gunicorn + Uvicorn workers (prod)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578608"/>
            <a:ext cx="406908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2633472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Hosting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2633472"/>
            <a:ext cx="2944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Render.com — free tier, auto-deploy from GitHub main branch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962656"/>
            <a:ext cx="4069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301752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Alternative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017520"/>
            <a:ext cx="2944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Railway.app — zero-config Python ASGI deployment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46704"/>
            <a:ext cx="406908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3401568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CORS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3401568"/>
            <a:ext cx="2944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Whitelisted frontend origin in FastAPI CORSMiddleware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730752"/>
            <a:ext cx="4069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3785615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Env Config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3785615"/>
            <a:ext cx="2944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.env file — API keys, allowed origins, timeout settings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114800"/>
            <a:ext cx="406908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" y="4169663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Start Command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4169663"/>
            <a:ext cx="2944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uvicorn main:app --host 0.0.0.0 --port $PORT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1417320"/>
            <a:ext cx="4069080" cy="347472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0" y="1444752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Frontend  ·  Vanilla SPA (HTML5)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79" y="1417320"/>
            <a:ext cx="868680" cy="347472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54880" y="1810512"/>
            <a:ext cx="406908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28032" y="1865376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2D8B"/>
                </a:solidFill>
                <a:latin typeface="Calibri"/>
              </a:rPr>
              <a:t>Type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6440" y="1865376"/>
            <a:ext cx="2944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Single static .html file — zero build step required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2194560"/>
            <a:ext cx="4069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28032" y="2249424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2D8B"/>
                </a:solidFill>
                <a:latin typeface="Calibri"/>
              </a:rPr>
              <a:t>Hosting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6440" y="2249424"/>
            <a:ext cx="2944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GitHub Pages — push to gh-pages branch, auto-serve via CDN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54880" y="2578608"/>
            <a:ext cx="406908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28032" y="2633472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2D8B"/>
                </a:solidFill>
                <a:latin typeface="Calibri"/>
              </a:rPr>
              <a:t>Alternative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2633472"/>
            <a:ext cx="2944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Netlify — drag-and-drop deploy of shopintel_ai_v2.html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0" y="2962656"/>
            <a:ext cx="4069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28032" y="301752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2D8B"/>
                </a:solidFill>
                <a:latin typeface="Calibri"/>
              </a:rPr>
              <a:t>Alternative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06440" y="3017520"/>
            <a:ext cx="2944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Vercel — static hosting with instant global CDN distribution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3346704"/>
            <a:ext cx="406908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28032" y="3401568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2D8B"/>
                </a:solidFill>
                <a:latin typeface="Calibri"/>
              </a:rPr>
              <a:t>Local Dev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06440" y="3401568"/>
            <a:ext cx="2944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python -m http.server 3000  (no npm/node required)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54880" y="3730752"/>
            <a:ext cx="4069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28032" y="3785615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2D8B"/>
                </a:solidFill>
                <a:latin typeface="Calibri"/>
              </a:rPr>
              <a:t>HTTPS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06440" y="3785615"/>
            <a:ext cx="2944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Enabled by default on GitHub Pages / Netlify / Vercel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80" y="4114800"/>
            <a:ext cx="406908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28032" y="4169663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2D8B"/>
                </a:solidFill>
                <a:latin typeface="Calibri"/>
              </a:rPr>
              <a:t>Cache Policy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06440" y="4169663"/>
            <a:ext cx="2944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Browser cache for static assets; no server-side caching needed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4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  <a:latin typeface="Courier New"/>
              </a:rPr>
              <a:t>SECTION 10 — 10.2 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ourier New"/>
              </a:rPr>
              <a:t>ShopIntel  |  AI Product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Prototype / MVP Demonstration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Interface screenshots and live system walkthrough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41732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B2D8B"/>
                </a:solidFill>
                <a:latin typeface="Calibri"/>
              </a:rPr>
              <a:t>Home Page — Hero &amp; Particle Canvas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73352"/>
            <a:ext cx="4206240" cy="1618487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372868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[Interface Screenshot — paste here]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417320"/>
            <a:ext cx="4160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A77D"/>
                </a:solidFill>
                <a:latin typeface="Calibri"/>
              </a:rPr>
              <a:t>Compare View — Score Rings &amp; Results Table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673352"/>
            <a:ext cx="4160520" cy="1618487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372868"/>
            <a:ext cx="4160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[Interface Screenshot — paste here]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3832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  <a:latin typeface="Calibri"/>
              </a:rPr>
              <a:t>Wishlist View — Persistent Product List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639312"/>
            <a:ext cx="4206240" cy="12252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142232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[Interface Screenshot — paste here]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383280"/>
            <a:ext cx="4160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A261"/>
                </a:solidFill>
                <a:latin typeface="Calibri"/>
              </a:rPr>
              <a:t>Analytics Dashboard — Savings &amp; ROI Slider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3639312"/>
            <a:ext cx="4160520" cy="12252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4142232"/>
            <a:ext cx="4160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[Interface Screenshot — paste here]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663440"/>
            <a:ext cx="2084831" cy="256032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+ Functional SPA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79" y="4663440"/>
            <a:ext cx="2084831" cy="256032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+ MCDA Scoring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4663440"/>
            <a:ext cx="2084831" cy="256032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+ Responsive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4663440"/>
            <a:ext cx="2084831" cy="25603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+ Wishlist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4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  <a:latin typeface="Courier New"/>
              </a:rPr>
              <a:t>SECTION 11 —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ourier New"/>
              </a:rPr>
              <a:t>ShopIntel  |  AI Product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Conclusion &amp; Future Extensions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417320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A77D"/>
                </a:solidFill>
                <a:latin typeface="Calibri"/>
              </a:rPr>
              <a:t>What Was Achieved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37360"/>
            <a:ext cx="228600" cy="27432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37360"/>
            <a:ext cx="3886200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783080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Real-time multi-platform scraper (5 Indian e-commerce sites)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112264"/>
            <a:ext cx="228600" cy="27432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112264"/>
            <a:ext cx="38862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157984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MCDA scoring engine — first open application to Indian e-commerce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487168"/>
            <a:ext cx="228600" cy="27432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487168"/>
            <a:ext cx="3886200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532887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Sub-8-second comparison across 5 platforms via asyncio parallel fetching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862072"/>
            <a:ext cx="228600" cy="27432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862072"/>
            <a:ext cx="38862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907791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6-tier cascade extraction resilient to anti-bot measures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236976"/>
            <a:ext cx="228600" cy="27432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236976"/>
            <a:ext cx="3886200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282696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Zero-dependency responsive SPA with particle canvas &amp; SVG rings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611879"/>
            <a:ext cx="228600" cy="27432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+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611879"/>
            <a:ext cx="38862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657599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localStorage wishlist — no authentication required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986783"/>
            <a:ext cx="228600" cy="27432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+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986783"/>
            <a:ext cx="3886200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4032503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All 26 functional &amp; integration test cases pass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361688"/>
            <a:ext cx="228600" cy="27432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361688"/>
            <a:ext cx="38862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4407407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Flipkart Brotli, Myntra hydration, Puma CDN — all bypassed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1417320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A261"/>
                </a:solidFill>
                <a:latin typeface="Calibri"/>
              </a:rPr>
              <a:t>Future Extensions  —  v3.0 Roadmap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1737360"/>
            <a:ext cx="384048" cy="347472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F1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47488" y="1737360"/>
            <a:ext cx="3776472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175564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A77D"/>
                </a:solidFill>
                <a:latin typeface="Calibri"/>
              </a:rPr>
              <a:t>Price History Tracker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1920240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30-day price trend charts using PostgreSQL backend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2157984"/>
            <a:ext cx="384048" cy="347472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F2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47488" y="2157984"/>
            <a:ext cx="3776472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20640" y="21762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7B6"/>
                </a:solidFill>
                <a:latin typeface="Calibri"/>
              </a:rPr>
              <a:t>Browser Extension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2340864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Chrome/Firefox extension for one-click comparison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63440" y="2578608"/>
            <a:ext cx="384048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F3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47488" y="2578608"/>
            <a:ext cx="3776472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20640" y="259689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  <a:latin typeface="Calibri"/>
              </a:rPr>
              <a:t>User Authentication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2761488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JWT login with cloud-synced wishlist &amp; history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63440" y="2999232"/>
            <a:ext cx="384048" cy="34747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F4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47488" y="2999232"/>
            <a:ext cx="3776472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20640" y="3017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A261"/>
                </a:solidFill>
                <a:latin typeface="Calibri"/>
              </a:rPr>
              <a:t>AI Recommendation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0" y="3182112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LLM-based 'best buy' via product specs + NLP reviews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63440" y="3419856"/>
            <a:ext cx="384048" cy="347472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F5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47488" y="3419856"/>
            <a:ext cx="3776472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20640" y="3438144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62246"/>
                </a:solidFill>
                <a:latin typeface="Calibri"/>
              </a:rPr>
              <a:t>Price Alert System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20640" y="3602736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Email/WhatsApp alerts when wishlisted item drops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63440" y="3840480"/>
            <a:ext cx="384048" cy="347472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F6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47488" y="3840480"/>
            <a:ext cx="3776472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20640" y="385876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B2D8B"/>
                </a:solidFill>
                <a:latin typeface="Calibri"/>
              </a:rPr>
              <a:t>More Platforms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20640" y="4023360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Meesho, Nykaa, Croma, Reliance Digital, JioMart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663440" y="4261104"/>
            <a:ext cx="384048" cy="34747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F7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47488" y="4261104"/>
            <a:ext cx="3776472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20640" y="427939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Mobile App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20640" y="4443984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React Native app with barcode scanner comparison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4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  <a:latin typeface="Courier New"/>
              </a:rPr>
              <a:t>SECTION 12 —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ourier New"/>
              </a:rPr>
              <a:t>ShopIntel  |  AI Product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83210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Academic papers, documentation and industry sources cited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384048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/>
              </a:rPr>
              <a:t>[1]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417320"/>
            <a:ext cx="3913632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435608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  <a:latin typeface="Calibri"/>
              </a:rPr>
              <a:t>BeautifulSoup4 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00200"/>
            <a:ext cx="37490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Richardson, L. (2024). Beautiful Soup 4 Documentation. crummy.com.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911095"/>
            <a:ext cx="384048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/>
              </a:rPr>
              <a:t>[2]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911095"/>
            <a:ext cx="3913632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929384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  <a:latin typeface="Calibri"/>
              </a:rPr>
              <a:t>FastAPI Docs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093976"/>
            <a:ext cx="37490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Ramirez, S. (2024). FastAPI Framework for Python 3.x. tiangolo.com.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404872"/>
            <a:ext cx="384048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/>
              </a:rPr>
              <a:t>[3]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404872"/>
            <a:ext cx="3913632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423160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  <a:latin typeface="Calibri"/>
              </a:rPr>
              <a:t>Aiohttp Docs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587752"/>
            <a:ext cx="37490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The aiohttp Team (2024). Async HTTP Client/Server for Python. docs.aiohttp.org.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898648"/>
            <a:ext cx="384048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/>
              </a:rPr>
              <a:t>[4]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2898648"/>
            <a:ext cx="3913632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916936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  <a:latin typeface="Calibri"/>
              </a:rPr>
              <a:t>Pydantic v2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081528"/>
            <a:ext cx="37490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Colvin, S. et al. (2024). Data Validation Library. docs.pydantic.dev.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392424"/>
            <a:ext cx="384048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/>
              </a:rPr>
              <a:t>[5]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392424"/>
            <a:ext cx="3913632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410712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  <a:latin typeface="Calibri"/>
              </a:rPr>
              <a:t>MCDA Methods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575304"/>
            <a:ext cx="37490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Triantaphyllou, E. (2000). Multi-Criteria Decision Making Methods. Springer.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886200"/>
            <a:ext cx="384048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/>
              </a:rPr>
              <a:t>[6]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3886200"/>
            <a:ext cx="3913632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904487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  <a:latin typeface="Calibri"/>
              </a:rPr>
              <a:t>Web Scraping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069080"/>
            <a:ext cx="37490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Nield, D. (2023). Web Scraping with Python. O'Reilly Media.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379976"/>
            <a:ext cx="384048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/>
              </a:rPr>
              <a:t>[7]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379976"/>
            <a:ext cx="3913632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398264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  <a:latin typeface="Calibri"/>
              </a:rPr>
              <a:t>Indian E-Commerce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562856"/>
            <a:ext cx="37490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IBEF (2024). Indian E-Commerce Industry Report. ibef.org.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80" y="1417320"/>
            <a:ext cx="384048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/>
              </a:rPr>
              <a:t>[8]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38928" y="1417320"/>
            <a:ext cx="3913632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12080" y="1435608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  <a:latin typeface="Calibri"/>
              </a:rPr>
              <a:t>Statista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1600200"/>
            <a:ext cx="37490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Statista (2024). E-commerce users worldwide 2017-2029. statista.com.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0" y="1911095"/>
            <a:ext cx="384048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/>
              </a:rPr>
              <a:t>[9]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38928" y="1911095"/>
            <a:ext cx="3913632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12080" y="1929384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  <a:latin typeface="Calibri"/>
              </a:rPr>
              <a:t>HTML5 Canvas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2093976"/>
            <a:ext cx="37490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MDN Web Docs (2024). CanvasRenderingContext2D. developer.mozilla.org.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0" y="2404872"/>
            <a:ext cx="384048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/>
              </a:rPr>
              <a:t>[10]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38928" y="2404872"/>
            <a:ext cx="3913632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12080" y="2423160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  <a:latin typeface="Calibri"/>
              </a:rPr>
              <a:t>Turnstile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2587752"/>
            <a:ext cx="37490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Cloudflare (2024). Turnstile CAPTCHA Documentation. developers.cloudflare.com.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54880" y="2898648"/>
            <a:ext cx="384048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/>
              </a:rPr>
              <a:t>[11]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38928" y="2898648"/>
            <a:ext cx="3913632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12080" y="2916936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  <a:latin typeface="Calibri"/>
              </a:rPr>
              <a:t>Schema.org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80" y="3081528"/>
            <a:ext cx="37490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Schema.org (2024). Product Schema microdata specification. schema.org/Product.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54880" y="3392424"/>
            <a:ext cx="384048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/>
              </a:rPr>
              <a:t>[12]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38928" y="3392424"/>
            <a:ext cx="3913632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12080" y="3410712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  <a:latin typeface="Calibri"/>
              </a:rPr>
              <a:t>localStorage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12080" y="3575304"/>
            <a:ext cx="37490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MDN Web Docs (2024). Window.localStorage API. developer.mozilla.org.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54880" y="3886200"/>
            <a:ext cx="384048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/>
              </a:rPr>
              <a:t>[13]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38928" y="3886200"/>
            <a:ext cx="3913632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12080" y="3904487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  <a:latin typeface="Calibri"/>
              </a:rPr>
              <a:t>Software Testing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12080" y="4069080"/>
            <a:ext cx="37490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Myers, G.J. et al. (2011). The Art of Software Testing, 3rd Ed. Wiley.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54880" y="4379976"/>
            <a:ext cx="384048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/>
              </a:rPr>
              <a:t>[14]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38928" y="4379976"/>
            <a:ext cx="3913632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212080" y="4398264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  <a:latin typeface="Calibri"/>
              </a:rPr>
              <a:t>Brotli RFC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12080" y="4562856"/>
            <a:ext cx="37490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Alakuijala, J. &amp; Szabadka, Z. (2016). Brotli Compressed Data Format. IETF RFC 7932.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138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51760"/>
            <a:ext cx="9144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1097280"/>
            <a:ext cx="3200400" cy="2944368"/>
          </a:xfrm>
          <a:prstGeom prst="rect">
            <a:avLst/>
          </a:prstGeom>
          <a:solidFill>
            <a:srgbClr val="07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14630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00B4D8"/>
                </a:solidFill>
                <a:latin typeface="Calibri Light"/>
              </a:rPr>
              <a:t>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3063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ShopIntel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972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148840"/>
            <a:ext cx="5029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286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B4D8"/>
                </a:solidFill>
                <a:latin typeface="Calibri Light"/>
              </a:rPr>
              <a:t>Questions &amp;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803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8CC"/>
                </a:solidFill>
                <a:latin typeface="Calibri"/>
              </a:rPr>
              <a:t>ShopIntel — AI-Powered Multi-Platform Product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21868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urier New"/>
              </a:rPr>
              <a:t>Soumya Das  |  Sandip Guria  |  Sisir Mondal  |  Dharitri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5478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B.Tech CSE  |  7th Semester  |  2025-26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solidFill>
            <a:srgbClr val="07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4992624"/>
            <a:ext cx="8595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[College / University Name]  |  Department of Computer Science &amp;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