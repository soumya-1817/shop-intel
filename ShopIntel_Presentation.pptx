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728655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43000"/>
            <a:ext cx="3840480" cy="3657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F46E5"/>
                </a:solidFill>
                <a:latin typeface="Calibri"/>
              </a:defRPr>
            </a:pPr>
            <a:r>
              <a:t>RESEARCH &amp; ENGINEERING CAPSTONE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Calibri"/>
              </a:defRPr>
            </a:pPr>
            <a:r>
              <a:t>ShopIntel AI</a:t>
            </a:r>
          </a:p>
          <a:p>
            <a:pPr>
              <a:spcBef>
                <a:spcPts val="600"/>
              </a:spcBef>
              <a:defRPr sz="2100" b="1">
                <a:solidFill>
                  <a:srgbClr val="4F46E5"/>
                </a:solidFill>
                <a:latin typeface="Calibri"/>
              </a:defRPr>
            </a:pPr>
            <a:r>
              <a:t>Real-Time Multi-Tenant E-Commerce Product Intelligence &amp; Extraction Framework</a:t>
            </a:r>
          </a:p>
          <a:p>
            <a:pPr>
              <a:spcBef>
                <a:spcPts val="800"/>
              </a:spcBef>
              <a:defRPr sz="1400">
                <a:solidFill>
                  <a:srgbClr val="334155"/>
                </a:solidFill>
                <a:latin typeface="Calibri"/>
              </a:defRPr>
            </a:pPr>
            <a:r>
              <a:t>A High-Throughput Dual-Engine Architecture Combining Heuristic Parsing with Multimodal LLM Failover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06908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28016" rIns="128016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⚡ &lt; 1.5s Latency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Ultra-Fast Concurrent 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069080"/>
            <a:ext cx="233172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406908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28016" rIns="128016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🛡️ Anti-Bot Bypass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Hydration Shell Extraction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4069080"/>
            <a:ext cx="23317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406908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28016" rIns="128016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🧠 Gemini 2.0 Flash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Multimodal Semantic 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069080"/>
            <a:ext cx="2331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0" y="4069080"/>
            <a:ext cx="2331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46304" lIns="128016" rIns="128016"/>
          <a:lstStyle/>
          <a:p>
            <a:pPr algn="ctr">
              <a:defRPr sz="1300" b="1">
                <a:solidFill>
                  <a:srgbClr val="0F172A"/>
                </a:solidFill>
                <a:latin typeface="Calibri"/>
              </a:defRPr>
            </a:pPr>
            <a:r>
              <a:t>🔒 Local-First Privacy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Zero Cloud Data Liability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4069080"/>
            <a:ext cx="23317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44068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64748B"/>
                </a:solidFill>
                <a:latin typeface="Calibri"/>
              </a:defRPr>
            </a:pPr>
            <a:r>
              <a:t>Department of Computer Science &amp; Engineering · Core System Architecture &amp; AI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2.0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Executive 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 systematic 12-section walkthrough from theoretical foundations to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01. FOUNDATIONS &amp; MOTIVATION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4F46E5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3: Formal Problem Statement &amp; Price Asymmetry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4F46E5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4: Comprehensive Survey of Digital Solutions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4F46E5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5: Identified Technical Gaps &amp; Project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42255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02. SPECIFICATIONS &amp; SYSTEM DESIGN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C3AED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6: Functional &amp; Non-Functional Requirements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C3AED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7.1 - 7.2: High-Level Architecture &amp; Modules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7C3AED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7.3 - 7.4: UML Component Models &amp; MCDA Algorithms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77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03. IMPLEMENTATION &amp; DATA PIPELINE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59669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8.1: Layer-Wise Technology Stack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59669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8.2: Module-to-Code Mapping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59669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8.3 - 8.4: Data Handling, API Contracts &amp; Git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5242255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04. VERIFICATION, DEPLOYMENT &amp; FUTURE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9: Testing Suites &amp; Anti-Bot Verification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10: Cloud Deployment &amp; Live MVP Demonstration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D97706"/>
                </a:solidFill>
              </a:rPr>
              <a:t>➔ </a:t>
            </a:r>
            <a:r>
              <a:rPr sz="1350">
                <a:solidFill>
                  <a:srgbClr val="334155"/>
                </a:solidFill>
                <a:latin typeface="Calibri"/>
              </a:rPr>
              <a:t>Section 11 - 12: Conclusion, Roadmap &amp;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40"/>
            <a:ext cx="5242255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3.0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Problem Statement: E-Commerce Information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Three compounding structural friction points causing consumer welfare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564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🏷️ Artificial Price Inflation &amp; Fake MRPs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11D48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Retailers systematically inflate baseline MRPs by 35%–60% to market deceptive 'mega discount' flash sales.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11D48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Actual checkout prices hide behind cart-level convenience fees, payment surcharges, and delivery thresholds.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11D48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Result: Displayed surface prices rarely equal true realized checkout prices.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56432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4564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🛡️ Bot Mitigation &amp; SPA Hydration Walls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97706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Major stores deploy aggressive anti-scraping systems (Cloudflare Turnstile, Akamai, dynamic CSS hashes).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97706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Catalog data is locked inside client-side JS bundles (React/Vue/Next.js) rather than static HTML.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D97706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Traditional regex/DOM scrapers face immediate HTTP 403 blocks and IP throttling.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56432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5643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⏱️ Headless Browser Latency &amp; Resource Bloat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Headless Chromium drivers (Selenium/Puppeteer) take 12–25 seconds per query and consume 380MB+ RAM.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Heavy server virtualization crashes under simultaneous multi-store comparisons.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• </a:t>
            </a:r>
            <a:r>
              <a:rPr sz="1350">
                <a:solidFill>
                  <a:srgbClr val="334155"/>
                </a:solidFill>
                <a:latin typeface="Calibri"/>
              </a:rPr>
              <a:t>Indian households lose an estimated ₹18,400 annually to unassisted purchasing.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45920"/>
            <a:ext cx="3456432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4.0 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Survey of Existing Digital Solutions vs. ShopIntel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Comparative analysis across latency, computational cost, bot resilience, and privacy.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2103120"/>
                <a:gridCol w="2103120"/>
                <a:gridCol w="2133295"/>
              </a:tblGrid>
              <a:tr h="746760"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Extraction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 / API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Anti-Bot Resilience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 Privacy Guarantee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Browser Extensions</a:t>
                      </a:r>
                      <a:br/>
                      <a:r>
                        <a:t>(Keepa, BuyHatke)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Moderate (~1.0s)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Low (Client regex)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Moderate (Client IP)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Invasive (Cloud tracking)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Price Aggregators</a:t>
                      </a:r>
                      <a:br/>
                      <a:r>
                        <a:t>(MySmartPrice, PriceDekho)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Fast (&lt; 0.5s)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Database 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(Server Proxies)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24h–48h Stale Feeds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Headless Crawlers</a:t>
                      </a:r>
                      <a:br/>
                      <a:r>
                        <a:t>(Selenium, Playwright)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Very Slow (14s–25s)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High CPU / RAM Bloat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Low (CDP Flags Detected)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Server-side Dependent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Pure LLM Agents</a:t>
                      </a:r>
                      <a:br/>
                      <a:r>
                        <a:t>(AutoGPT, WebVoyager)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Extremely Slow (&gt; 30s)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Very High ($0.15/run)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Variable (DOM Token Limits)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Exfiltrates Raw DOM to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137160" rIns="137160" tIns="91440" bIns="91440"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ShopIntel AI</a:t>
                      </a:r>
                      <a:br/>
                      <a:r>
                        <a:t>(Dual-Engine Paradigm)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Ultra-Fast (1.2s–1.8s)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Near-Zero (Fallback only)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High (Dynamic Hydration)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100% Local-First Privacy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5.0 GAPS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Identified Technical Gaps &amp; Project Engineering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Mapping current technical limitations to concrete system design goals.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Identified Research &amp; Technical Gaps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❌ GAP 1: Virtualization Memory Overhead
</a:t>
            </a:r>
            <a:r>
              <a:rPr sz="1300">
                <a:solidFill>
                  <a:srgbClr val="334155"/>
                </a:solidFill>
              </a:rPr>
              <a:t>Headless browser instances consume 350MB+ RAM per query, precluding lightweight microservice scalability.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❌ GAP 2: CSS Selector Fragility
</a:t>
            </a:r>
            <a:r>
              <a:rPr sz="1300">
                <a:solidFill>
                  <a:srgbClr val="334155"/>
                </a:solidFill>
              </a:rPr>
              <a:t>Daily automated frontend build recompilations break hardcoded CSS selectors (`span.price_123`) without warning.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❌ GAP 3: Stale Centralized Databases
</a:t>
            </a:r>
            <a:r>
              <a:rPr sz="1300">
                <a:solidFill>
                  <a:srgbClr val="334155"/>
                </a:solidFill>
              </a:rPr>
              <a:t>Cached aggregator feeds miss time-sensitive lightning deals, card-specific discounts, and live inventory state.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❌ GAP 4: Telemetry Privacy Violations
</a:t>
            </a:r>
            <a:r>
              <a:rPr sz="1300">
                <a:solidFill>
                  <a:srgbClr val="334155"/>
                </a:solidFill>
              </a:rPr>
              <a:t>Commercial shopping extensions exfiltrate browsing telemetry and inject tracking affiliate cookies.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Core Engineering Objectives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59669"/>
                </a:solidFill>
              </a:rPr>
              <a:t>🎯 OBJECTIVE 1: Sub-2.0s Parallel Latency
</a:t>
            </a:r>
            <a:r>
              <a:rPr sz="1300">
                <a:solidFill>
                  <a:srgbClr val="334155"/>
                </a:solidFill>
              </a:rPr>
              <a:t>Multiplex up to 6 target URLs via non-blocking asynchronous HTTPX coroutines within 1.8s median runtime.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59669"/>
                </a:solidFill>
              </a:rPr>
              <a:t>🎯 OBJECTIVE 2: 6-Tier Self-Healing Cascade
</a:t>
            </a:r>
            <a:r>
              <a:rPr sz="1300">
                <a:solidFill>
                  <a:srgbClr val="334155"/>
                </a:solidFill>
              </a:rPr>
              <a:t>Structured JSON-LD ➔ Open Graph ➔ In-Page State Hydration Blobs ➔ Multimodal Gemini 2.0 Flash failover.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59669"/>
                </a:solidFill>
              </a:rPr>
              <a:t>🎯 OBJECTIVE 3: Multi-Criteria MCDA Scoring
</a:t>
            </a:r>
            <a:r>
              <a:rPr sz="1300">
                <a:solidFill>
                  <a:srgbClr val="334155"/>
                </a:solidFill>
              </a:rPr>
              <a:t>Synthesize a 100-point transparent value metric normalizing genuine MRP savings, ratings, review volume, and brand.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59669"/>
                </a:solidFill>
              </a:rPr>
              <a:t>🎯 OBJECTIVE 4: Local-First Privacy Architecture
</a:t>
            </a:r>
            <a:r>
              <a:rPr sz="1300">
                <a:solidFill>
                  <a:srgbClr val="334155"/>
                </a:solidFill>
              </a:rPr>
              <a:t>Preserve all search history, saved wishlists, and preferences in client browser storage with zero cloud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6.0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Functional &amp; Non-Functional Requirements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Formal requirements compliant with IEEE Std 830 software engineering specifications.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Functional Requirements (Core Capabilities)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4F46E5"/>
                </a:solidFill>
              </a:rPr>
              <a:t>FR-1 Multi-Store Ingestion: </a:t>
            </a:r>
            <a:r>
              <a:rPr sz="1300">
                <a:solidFill>
                  <a:srgbClr val="334155"/>
                </a:solidFill>
              </a:rPr>
              <a:t>Accept up to 6 heterogeneous platform URLs concurrently; automatically identify and route domains to specialized extractors.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4F46E5"/>
                </a:solidFill>
              </a:rPr>
              <a:t>FR-2 Cascading Microdata Parser: </a:t>
            </a:r>
            <a:r>
              <a:rPr sz="1300">
                <a:solidFill>
                  <a:srgbClr val="334155"/>
                </a:solidFill>
              </a:rPr>
              <a:t>Extract verified Product schema (Title, Brand, Price, MRP, Ratings, Review Count, Delivery, High-Res Image).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4F46E5"/>
                </a:solidFill>
              </a:rPr>
              <a:t>FR-3 Deep Hydration Adapters: </a:t>
            </a:r>
            <a:r>
              <a:rPr sz="1300">
                <a:solidFill>
                  <a:srgbClr val="334155"/>
                </a:solidFill>
              </a:rPr>
              <a:t>Execute specialized parsers for Amazon (`a-price-whole`), Flipkart (Brotli decode), Myntra (`__myx`), and Puma (CDN fix).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4F46E5"/>
                </a:solidFill>
              </a:rPr>
              <a:t>FR-4 Multimodal AI Failover: </a:t>
            </a:r>
            <a:r>
              <a:rPr sz="1300">
                <a:solidFill>
                  <a:srgbClr val="334155"/>
                </a:solidFill>
              </a:rPr>
              <a:t>Direct fallback to Google Gemini 2.0 Flash when heuristic parsers encounter extreme obfuscation.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4F46E5"/>
                </a:solidFill>
              </a:rPr>
              <a:t>FR-5 Multi-Criteria Decision Scoring: </a:t>
            </a:r>
            <a:r>
              <a:rPr sz="1300">
                <a:solidFill>
                  <a:srgbClr val="334155"/>
                </a:solidFill>
              </a:rPr>
              <a:t>Calculate an objective [0-100] AI value score and award verified Best Value, Best Price, and Highest Rated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Non-Functional Requirements (Invariants)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C3AED"/>
                </a:solidFill>
              </a:rPr>
              <a:t>NFR-1 Real-Time Performance: </a:t>
            </a:r>
            <a:r>
              <a:rPr sz="1300">
                <a:solidFill>
                  <a:srgbClr val="334155"/>
                </a:solidFill>
              </a:rPr>
              <a:t>Total batch comparison latency must not exceed 1.8s for 3 concurrent products under typical network conditions.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C3AED"/>
                </a:solidFill>
              </a:rPr>
              <a:t>NFR-2 Zero-Crash Reliability: </a:t>
            </a:r>
            <a:r>
              <a:rPr sz="1300">
                <a:solidFill>
                  <a:srgbClr val="334155"/>
                </a:solidFill>
              </a:rPr>
              <a:t>Unreachable or blocked pages must return structured partial extraction objects; zero hard unhandled backend crashes.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C3AED"/>
                </a:solidFill>
              </a:rPr>
              <a:t>NFR-3 Zero-Dependency Client: </a:t>
            </a:r>
            <a:r>
              <a:rPr sz="1300">
                <a:solidFill>
                  <a:srgbClr val="334155"/>
                </a:solidFill>
              </a:rPr>
              <a:t>Client runs natively in any standard modern browser without external JS frameworks (No React/Vue runtime overhead).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C3AED"/>
                </a:solidFill>
              </a:rPr>
              <a:t>NFR-4 Fluid Responsive Viewports: </a:t>
            </a:r>
            <a:r>
              <a:rPr sz="1300">
                <a:solidFill>
                  <a:srgbClr val="334155"/>
                </a:solidFill>
              </a:rPr>
              <a:t>Flawless layout responsiveness across 320px–480px mobile phones, 768px tablets, and 4K desktop displays with zero horizontal overflow.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7C3AED"/>
                </a:solidFill>
              </a:rPr>
              <a:t>NFR-5 Data Sovereignty &amp; Privacy: </a:t>
            </a:r>
            <a:r>
              <a:rPr sz="1300">
                <a:solidFill>
                  <a:srgbClr val="334155"/>
                </a:solidFill>
              </a:rPr>
              <a:t>Zero personal identifiers or browsing patterns transmitted or retained on servers.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7.1 &amp; 7.2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High-Level Architecture &amp; Layered Modular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Multi-tier decoupled architecture separating presentation, transport, extraction, and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09728" bIns="164592"/>
          <a:lstStyle/>
          <a:p>
            <a:pPr algn="ctr"/>
            <a:r>
              <a:rPr sz="1100" b="1">
                <a:solidFill>
                  <a:srgbClr val="4F46E5"/>
                </a:solidFill>
                <a:latin typeface="Calibri"/>
              </a:rPr>
              <a:t>[CLIENT BROWSER TIER]  </a:t>
            </a:r>
            <a:r>
              <a:rPr sz="1500" b="1">
                <a:solidFill>
                  <a:srgbClr val="0F172A"/>
                </a:solidFill>
                <a:latin typeface="Calibri"/>
              </a:rPr>
              <a:t>TIER 1: PRESENTATION CLIENT (Single-Page Application)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Vanilla ES6+ Reactive State Machine · Local-First Storage Engine · Responsive CSS Grid System · Canvas Ambient Particle Graphics · SVG Score Gauges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728655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09728" bIns="164592"/>
          <a:lstStyle/>
          <a:p>
            <a:pPr algn="ctr"/>
            <a:r>
              <a:rPr sz="1100" b="1">
                <a:solidFill>
                  <a:srgbClr val="0EA5E9"/>
                </a:solidFill>
                <a:latin typeface="Calibri"/>
              </a:rPr>
              <a:t>[API GATEWAY TIER]  </a:t>
            </a:r>
            <a:r>
              <a:rPr sz="1500" b="1">
                <a:solidFill>
                  <a:srgbClr val="0F172A"/>
                </a:solidFill>
                <a:latin typeface="Calibri"/>
              </a:rPr>
              <a:t>TIER 2: ASGI API GATEWAY &amp; CONTROLLER (FastAPI / Uvicorn)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Asynchronous Non-Blocking Event Loop · CORS Security Policy · Pydantic v2 Strict Contract Validation · Asyncio.gather Parallel Task Multiplexer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2865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09728" bIns="164592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[EXTRACTION ENGINE]  </a:t>
            </a:r>
            <a:r>
              <a:rPr sz="1500" b="1">
                <a:solidFill>
                  <a:srgbClr val="0F172A"/>
                </a:solidFill>
                <a:latin typeface="Calibri"/>
              </a:rPr>
              <a:t>TIER 3: MULTI-STRATEGY EXTRACTION CORE (Server/backend/main.py)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Strategy 1: Schema.org JSON-LD · Strategy 2: Open Graph Meta · Strategy 3: CSS Micro-Selectors · Strategy 4: Deep Store Hydration Scanners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728655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09728" bIns="164592"/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[DECISION &amp; AI TIER]  </a:t>
            </a:r>
            <a:r>
              <a:rPr sz="1500" b="1">
                <a:solidFill>
                  <a:srgbClr val="0F172A"/>
                </a:solidFill>
                <a:latin typeface="Calibri"/>
              </a:rPr>
              <a:t>TIER 4: VALUE INTELLIGENCE &amp; MULTIMODAL AI (Decision Tier)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Multi-Criteria Decision Scoring (MCDA) Algorithm · Inflated MRP Arbitrage Normalizer · Google Gemini 2.0 Flash Multimodal Fallback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7.3 UML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UML Component Topology &amp; Sequence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Formal structural relationships and end-to-end execution sequence.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UML Component Topology &amp; Interfaces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4F46E5"/>
                </a:solidFill>
              </a:rPr>
              <a:t>📦 UI_Client (Browser SPA): </a:t>
            </a:r>
            <a:r>
              <a:rPr sz="1250">
                <a:solidFill>
                  <a:srgbClr val="334155"/>
                </a:solidFill>
              </a:rPr>
              <a:t>Interfaces: ILocalStorage, IDOMManipulator, INetworkFetch. Manages reactive views, local caching, and user event dispatching.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4F46E5"/>
                </a:solidFill>
              </a:rPr>
              <a:t>📦 APIGateway (FastAPI): </a:t>
            </a:r>
            <a:r>
              <a:rPr sz="1250">
                <a:solidFill>
                  <a:srgbClr val="334155"/>
                </a:solidFill>
              </a:rPr>
              <a:t>Interfaces: /compare, /extract, /health. Enforces CORS rules, validates input payloads, and coordinates async task pools.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4F46E5"/>
                </a:solidFill>
              </a:rPr>
              <a:t>📦 ExtractionDispatcher: </a:t>
            </a:r>
            <a:r>
              <a:rPr sz="1250">
                <a:solidFill>
                  <a:srgbClr val="334155"/>
                </a:solidFill>
              </a:rPr>
              <a:t>Maps target URLs to appropriate store adapters via regex domain classification and coordinates parallel async coroutines.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4F46E5"/>
                </a:solidFill>
              </a:rPr>
              <a:t>📦 StoreAdapterPool: </a:t>
            </a:r>
            <a:r>
              <a:rPr sz="1250">
                <a:solidFill>
                  <a:srgbClr val="334155"/>
                </a:solidFill>
              </a:rPr>
              <a:t>Encapsulates platform-specific DOM logic for Amazon, Flipkart, Myntra, Puma, and generic e-commerce stores.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4F46E5"/>
                </a:solidFill>
              </a:rPr>
              <a:t>📦 MCDAScoringEngine: </a:t>
            </a:r>
            <a:r>
              <a:rPr sz="1250">
                <a:solidFill>
                  <a:srgbClr val="334155"/>
                </a:solidFill>
              </a:rPr>
              <a:t>Computes multi-attribute value indices across extracted product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UML End-to-End Sequence Flow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059669"/>
                </a:solidFill>
              </a:rPr>
              <a:t>➔ Step 1: Batch Submission: </a:t>
            </a:r>
            <a:r>
              <a:rPr sz="1250">
                <a:solidFill>
                  <a:srgbClr val="334155"/>
                </a:solidFill>
              </a:rPr>
              <a:t>Client issues asynchronous `POST /compare` request containing array of candidate store URLs.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059669"/>
                </a:solidFill>
              </a:rPr>
              <a:t>➔ Step 2: Non-Blocking Dispatch: </a:t>
            </a:r>
            <a:r>
              <a:rPr sz="1250">
                <a:solidFill>
                  <a:srgbClr val="334155"/>
                </a:solidFill>
              </a:rPr>
              <a:t>FastAPI ASGI server spawns parallel `asyncio.gather(*tasks)` workers for zero head-of-line delay.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059669"/>
                </a:solidFill>
              </a:rPr>
              <a:t>➔ Step 3: Network Handshake: </a:t>
            </a:r>
            <a:r>
              <a:rPr sz="1250">
                <a:solidFill>
                  <a:srgbClr val="334155"/>
                </a:solidFill>
              </a:rPr>
              <a:t>HTTPX negotiates TLS with rotating browser headers, requesting Gzip/Brotli payloads.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059669"/>
                </a:solidFill>
              </a:rPr>
              <a:t>➔ Step 4: Cascading Extraction: </a:t>
            </a:r>
            <a:r>
              <a:rPr sz="1250">
                <a:solidFill>
                  <a:srgbClr val="334155"/>
                </a:solidFill>
              </a:rPr>
              <a:t>Attempts JSON-LD microdata -&gt; Open Graph -&gt; In-page state hydration blobs (`window.__myx`).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059669"/>
                </a:solidFill>
              </a:rPr>
              <a:t>➔ Step 5: Multimodal Failover: </a:t>
            </a:r>
            <a:r>
              <a:rPr sz="1250">
                <a:solidFill>
                  <a:srgbClr val="334155"/>
                </a:solidFill>
              </a:rPr>
              <a:t>If heuristics encounter blank DOM, routes sanitized tokens to Gemini 2.0 Flash for structured schema recovery.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059669"/>
                </a:solidFill>
              </a:rPr>
              <a:t>➔ Step 6: Matrix Normalization: </a:t>
            </a:r>
            <a:r>
              <a:rPr sz="1250">
                <a:solidFill>
                  <a:srgbClr val="334155"/>
                </a:solidFill>
              </a:rPr>
              <a:t>Calculates MCDA scores, ranks winners, and returns normalized JSON to reactive client.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7.4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Algorithmic Formulations: Cascading Extraction &amp; MCDA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Rigorous mathematical formulations for cascading extraction and multi-criteria value ranking.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Algorithm 1: Cascading Parser Logic</a:t>
            </a:r>
          </a:p>
          <a:p>
            <a:pPr>
              <a:defRPr sz="1100">
                <a:solidFill>
                  <a:srgbClr val="334155"/>
                </a:solidFill>
                <a:latin typeface="Consolas"/>
              </a:defRPr>
            </a:pPr>
            <a:r>
              <a:t>ALGORITHM 1: CascadeExtract(url, store_key, mode, api_key)</a:t>
            </a:r>
            <a:br/>
            <a:r>
              <a:t>Input : Target URL, Store Key, Fallback Mode, API Key</a:t>
            </a:r>
            <a:br/>
            <a:r>
              <a:t>Output: Normalized Schema P = {Title, Price, MRP, Rating, ...}</a:t>
            </a:r>
            <a:br/>
            <a:r>
              <a:t>----------------------------------------------------------</a:t>
            </a:r>
            <a:br/>
            <a:r>
              <a:t>1:  headers := ConstructEmulatedHeaders(store_key)</a:t>
            </a:r>
            <a:br/>
            <a:r>
              <a:t>2:  (html, status) := async_http_get(url, headers)</a:t>
            </a:r>
            <a:br/>
            <a:r>
              <a:t>3:  if status != 200 then return ErrorRecord(status)</a:t>
            </a:r>
            <a:br/>
            <a:r>
              <a:t>4:  soup := ParseDOM(html)</a:t>
            </a:r>
            <a:br/>
            <a:r>
              <a:t>5:  record := ExtractJSONLD(soup)         // Tier 1</a:t>
            </a:r>
            <a:br/>
            <a:r>
              <a:t>6:  if Incomplete(record) then</a:t>
            </a:r>
            <a:br/>
            <a:r>
              <a:t>7:      record := ExtractOpenGraph(soup)  // Tier 2</a:t>
            </a:r>
            <a:br/>
            <a:r>
              <a:t>8:  if Incomplete(record) then</a:t>
            </a:r>
            <a:br/>
            <a:r>
              <a:t>9:      record := ScanInPageJSON(html)    // Tier 3</a:t>
            </a:r>
            <a:br/>
            <a:r>
              <a:t>10: if Incomplete(record) and HasGeminiKey() then</a:t>
            </a:r>
            <a:br/>
            <a:r>
              <a:t>11:     record := GeminiMultimodalExtract(html) // Tier 4</a:t>
            </a:r>
            <a:br/>
            <a:r>
              <a:t>12: discount := CalcDiscount(record.price, record.mrp)</a:t>
            </a:r>
            <a:br/>
            <a:r>
              <a:t>13: return FinalizeProduct(record, discount)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Algorithm 2: Multi-Criteria MCDA Formulation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Unified Value Index Formula: </a:t>
            </a:r>
            <a:r>
              <a:rPr sz="1250">
                <a:solidFill>
                  <a:srgbClr val="334155"/>
                </a:solidFill>
              </a:rPr>
              <a:t>Score = min(100, round(S_base + Delta_rating + Delta_abs + Delta_rel + Delta_brand + Delta_mrp))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1. Prior Baseline Credibility: </a:t>
            </a:r>
            <a:r>
              <a:rPr sz="1250">
                <a:solidFill>
                  <a:srgbClr val="334155"/>
                </a:solidFill>
              </a:rPr>
              <a:t>S_base = 50.0  (Standard prior baseline allocation).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2. Verified Rating Weight: </a:t>
            </a:r>
            <a:r>
              <a:rPr sz="1250">
                <a:solidFill>
                  <a:srgbClr val="334155"/>
                </a:solidFill>
              </a:rPr>
              <a:t>Delta_rating = Rating * 8.0  (Max +40.0 for 5.0-star verified products).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3. Absolute Price Brackets: </a:t>
            </a:r>
            <a:r>
              <a:rPr sz="1250">
                <a:solidFill>
                  <a:srgbClr val="334155"/>
                </a:solidFill>
              </a:rPr>
              <a:t>P &lt; 2k: +20 | P &lt; 5k: +15 | P &lt; 10k: +10 | P &lt; 25k: +5.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4. Batch Relative Price Competitiveness: </a:t>
            </a:r>
            <a:r>
              <a:rPr sz="1250">
                <a:solidFill>
                  <a:srgbClr val="334155"/>
                </a:solidFill>
              </a:rPr>
              <a:t>Delta_rel = (1 - (P - min(P_batch)) / (max(P_batch) - min(P_batch))) * 10.0.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5. Brand Tier Credibility: </a:t>
            </a:r>
            <a:r>
              <a:rPr sz="1250">
                <a:solidFill>
                  <a:srgbClr val="334155"/>
                </a:solidFill>
              </a:rPr>
              <a:t>Delta_brand = +10.0 if brand in verified premium roster, else 0.0.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7C3AED"/>
                </a:solidFill>
              </a:rPr>
              <a:t>6. Genuine MRP Arbitrage: </a:t>
            </a:r>
            <a:r>
              <a:rPr sz="1250">
                <a:solidFill>
                  <a:srgbClr val="334155"/>
                </a:solidFill>
              </a:rPr>
              <a:t>Delta_mrp = min(8.0, ((MRP - P) / MRP) * 100 * 0.15) if MRP &gt; 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8.1 TECHNOLOGY STACKS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Layer-Wise Technology Stacks &amp; Architectural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State-of-the-art tooling selected for raw speed, zero lock-in, and local-first privacy.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🎨 Presentation Tier (Client)</a:t>
            </a:r>
          </a:p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SEMANTIC HTML5 · MODERN CSS3 · VANILLA ES6+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Zero external JS frameworks (No React/Vue overhead) for instant client load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Reactive DOM state router handling navigation, comparison tables, and modals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Adaptive CSS Grid &amp; Flexbox system providing responsive 320px–4K fluidity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Interactive 3D card tilt &amp; particle background physics on HTML5 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42255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⚡ Application &amp; API Gateway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PYTHON 3.12 · FASTAPI · UVICORN ASGI SERVER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Non-blocking asynchronous event loop handling high concurrent throughput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Pydantic v2 strict schema validation for URL arrays and payload contracts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FastAPI automatic OpenAPI documentation and CORS policy enforcement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EA5E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Lightweight containerization profile with sub-second process startup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77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🔍 Extraction &amp; Multimodal AI</a:t>
            </a:r>
          </a:p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Calibri"/>
              </a:defRPr>
            </a:pPr>
            <a:r>
              <a:t>HTTPX ASYNC · BEAUTIFULSOUP4 · LXML · GEMINI 2.0 FLASH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Native Gzip and Brotli compression decompression via HTTPX transport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Fast C-based LXML and HTML.parser tree parsing for microdata extraction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Custom in-page state regex scanners for dynamic React/Vue data payloads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Direct Google GenAI client integration with temperature=0.1 structured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5242255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🔒 Privacy &amp; Local Storage Tier</a:t>
            </a:r>
          </a:p>
          <a:p>
            <a:pPr>
              <a:spcAft>
                <a:spcPts val="60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WEB STORAGE API · CLIENT CRYPTO CHALLENGE · TURNSTILE WIDGET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Local-first state architecture: Wishlist, History, and Profile in localStorage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Zero tracking or telemetry data transmitted to central databases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Interactive math &amp; robot Turnstile challenge widget defending against abuse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• </a:t>
            </a:r>
            <a:r>
              <a:rPr sz="1250">
                <a:solidFill>
                  <a:srgbClr val="334155"/>
                </a:solidFill>
              </a:rPr>
              <a:t>Client-side session token simulation with instant avatar &amp; credential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40"/>
            <a:ext cx="524225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8.2 CODE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Module-to-Code Mapping &amp; Engineering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Direct mapping of theoretical design components to physical repository source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596335"/>
                <a:gridCol w="4572000"/>
              </a:tblGrid>
              <a:tr h="653142"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Code Files &amp; Symbols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37160" rIns="137160" tIns="109728" bIns="109728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Algorithmic Responsibility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Network Transport Layer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Consolas"/>
                        </a:defRPr>
                      </a:pPr>
                      <a:r>
                        <a:t>Server/backend/main.py</a:t>
                      </a:r>
                      <a:br/>
                      <a:r>
                        <a:t>`fetch_html()`, `make_headers()`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Rotating Chrome 137 UA, gzip/brotli handling, TLS connection pooling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Microdata Parser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Consolas"/>
                        </a:defRPr>
                      </a:pPr>
                      <a:r>
                        <a:t>Server/backend/main.py</a:t>
                      </a:r>
                      <a:br/>
                      <a:r>
                        <a:t>`extract_json_ld()`, `_ld_item()`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Schema.org graph traversal, Product, Offer, and aggregateRating decoding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Deep Store Adapters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Consolas"/>
                        </a:defRPr>
                      </a:pPr>
                      <a:r>
                        <a:t>Server/backend/main.py</a:t>
                      </a:r>
                      <a:br/>
                      <a:r>
                        <a:t>`amazon_deep()`, `flipkart_deep()`, `myntra_deep()`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In-page state JSON scanners (`__myx`), Amazon price overrides, Puma CDN fixes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2"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Value Scoring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Consolas"/>
                        </a:defRPr>
                      </a:pPr>
                      <a:r>
                        <a:t>Server/backend/main.py</a:t>
                      </a:r>
                      <a:br/>
                      <a:r>
                        <a:t>`calculate_score()`, `detect_store()`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Multi-Criteria Decision Analysis (MCDA), relative price &amp; MRP discount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Reactive Client UI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Consolas"/>
                        </a:defRPr>
                      </a:pPr>
                      <a:r>
                        <a:t>shopintel_ai_v2.html</a:t>
                      </a:r>
                      <a:br/>
                      <a:r>
                        <a:t>`renderResults()`, `showPage()`, `onResize()`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Single-Page Application router, dynamic DOM injection, responsive breakpoints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3148"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Local Storage &amp; Auth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150">
                          <a:solidFill>
                            <a:srgbClr val="334155"/>
                          </a:solidFill>
                          <a:latin typeface="Consolas"/>
                        </a:defRPr>
                      </a:pPr>
                      <a:r>
                        <a:t>shopintel_ai_v2.html</a:t>
                      </a:r>
                      <a:br/>
                      <a:r>
                        <a:t>`heartToggle()`, `renderWishlist()`, `authSignIn()`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rIns="137160" tIns="91440" bIns="91440"/>
                    <a:lstStyle/>
                    <a:p>
                      <a:pPr>
                        <a:defRPr sz="13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Client-side localStorage persistence, Turnstile verification, profile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8.3 &amp; 8.4 DATA &amp;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Data Handling, API Contracts &amp; Version Control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Strict request/response contracts and industrial Git-flow branching.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API Payloads &amp; Serialization Contracts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📄 POST /compare (Request Contract)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Consolas"/>
              </a:defRPr>
            </a:pPr>
            <a:r>
              <a:t>{</a:t>
            </a:r>
            <a:br/>
            <a:r>
              <a:t>  "urls": ["https://amazon.in/...", "https://flipkart.com/..."],</a:t>
            </a:r>
            <a:br/>
            <a:r>
              <a:t>  "mode": "html" | "gemini",</a:t>
            </a:r>
            <a:br/>
            <a:r>
              <a:t>  "api_key": Optional[str]</a:t>
            </a:r>
            <a:br/>
            <a:r>
              <a:t>}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📄 POST /compare (Response Contract)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Consolas"/>
              </a:defRPr>
            </a:pPr>
            <a:r>
              <a:t>{</a:t>
            </a:r>
            <a:br/>
            <a:r>
              <a:t>  "products": [ { "id": 1, "name": str, "price": float,</a:t>
            </a:r>
            <a:br/>
            <a:r>
              <a:t>      "original_price": float, "rating": float, "score": int,</a:t>
            </a:r>
            <a:br/>
            <a:r>
              <a:t>      "image_url": str, "extraction_method": str, ... } ],</a:t>
            </a:r>
            <a:br/>
            <a:r>
              <a:t>  "ranked": [ ... sorted descending by score ... ],</a:t>
            </a:r>
            <a:br/>
            <a:r>
              <a:t>  "best": { ... highest score winner ... },</a:t>
            </a:r>
            <a:br/>
            <a:r>
              <a:t>  "count": int</a:t>
            </a:r>
            <a:br/>
            <a:r>
              <a:t>}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📄 Graceful Degradation Contract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Consolas"/>
              </a:defRPr>
            </a:pPr>
            <a:r>
              <a:t>If an individual store blocks the request, it returns a clean failure object (`extraction_method: 'failed'`) without terminating parallel sibling jobs.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Version Control Strategy &amp; Milestones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🌿 Semantic Versioning Milestones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v1.0.0: Initial single-store CLI prototype</a:t>
            </a:r>
            <a:br/>
            <a:r>
              <a:t>• v2.0.0: FastAPI asynchronous multi-store rewrite with JSON-LD</a:t>
            </a:r>
            <a:br/>
            <a:r>
              <a:t>• v2.2.0: Deep store hydration engines (Amazon price fix, Flipkart Brotli fix, Puma CDN normalization)</a:t>
            </a:r>
            <a:br/>
            <a:r>
              <a:t>• v2.4.0: Modernized responsive UI, dual dark/light engine, and Turnstile challenge widget.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🌿 Git Flow Branching Model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`main`: Protected production release branch</a:t>
            </a:r>
            <a:br/>
            <a:r>
              <a:t>• `develop`: Active integration branch for backend/frontend</a:t>
            </a:r>
            <a:br/>
            <a:r>
              <a:t>• `feature/*`: Dedicated branches for extractors, UI grids, and test suites.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🌿 Continuous Integration Checks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Pre-commit linting via Flake8; HTML tag balance verification (100% verified across 482 tags); automated backend health probes.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9.0 TESTING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Verification, Testing Suites &amp; Anti-Bot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Multi-layered verification across unit logic, network concurrency, bot resilience, and viewports.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Unit Testing Suite (PyTest)</a:t>
            </a:r>
          </a:p>
          <a:p>
            <a:pPr>
              <a:spcAft>
                <a:spcPts val="600"/>
              </a:spcAft>
              <a:defRPr sz="1100" b="1">
                <a:solidFill>
                  <a:srgbClr val="059669"/>
                </a:solidFill>
                <a:latin typeface="Calibri"/>
              </a:defRPr>
            </a:pPr>
            <a:r>
              <a:t>SANITIZATION &amp; PARSING ROBUSTNESS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Verified `clean_price()` across ₹7,490, Rs. 1,299, and INR 4999 formats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Verified `clean_rating()` correctly extracts decimal ratings [0.0–5.0]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Regex boundary test: validated zero false positives on HTML navigation text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59669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HTML Tag Integrity: 100% tag balancing verified across 482 &lt;div&gt;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42255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Integration &amp; Concurrency Testing</a:t>
            </a:r>
          </a:p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  <a:latin typeface="Calibri"/>
              </a:defRPr>
            </a:pPr>
            <a:r>
              <a:t>ASYNCHRONOUS MULTIPLEXING &amp; HANDSHAKE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Simultaneous 6-store fetch tested under simulated network latency (100–800ms)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Validated native Brotli vs Gzip compression fallback for Flipkart responses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CORS integration testing across localhost:8000 and client web origins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4F46E5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Pydantic schema validation rejecting invalid URL formats with HTTP 400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77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Anti-Bot Resilience &amp; Fallback Testing</a:t>
            </a:r>
          </a:p>
          <a:p>
            <a:pPr>
              <a:spcAft>
                <a:spcPts val="600"/>
              </a:spcAft>
              <a:defRPr sz="1100" b="1">
                <a:solidFill>
                  <a:srgbClr val="D97706"/>
                </a:solidFill>
                <a:latin typeface="Calibri"/>
              </a:defRPr>
            </a:pPr>
            <a:r>
              <a:t>COUNTERMEASURE BYPASS &amp; FAILOVER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D97706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Simulated HTTP 403 and 429 rate limit responses from target stores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D97706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Verified automatic trigger of Gemini 2.0 Flash fallback when DOM is blank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D97706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Puma anti-bot false positive mitigation verified (captcha keyword check)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D97706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Zero-unhandled exception invariant verified: failed jobs return structured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40"/>
            <a:ext cx="5242255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40"/>
            <a:ext cx="5242255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Usability &amp; Viewport Responsive Audits</a:t>
            </a:r>
          </a:p>
          <a:p>
            <a:pPr>
              <a:spcAft>
                <a:spcPts val="600"/>
              </a:spcAft>
              <a:defRPr sz="1100" b="1">
                <a:solidFill>
                  <a:srgbClr val="7C3AED"/>
                </a:solidFill>
                <a:latin typeface="Calibri"/>
              </a:defRPr>
            </a:pPr>
            <a:r>
              <a:t>CROSS-DEVICE FIDELITY VERIFICATION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Chrome DevTools audit across 360px, 390px, 768px, and 1024px+ viewports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Zero horizontal overflow verified: `document.body.scrollWidth == innerWidth`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Touch-friendly testing: sticky attribute table column with touch scrolling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7C3AED"/>
                </a:solidFill>
              </a:rPr>
              <a:t>✓ </a:t>
            </a:r>
            <a:r>
              <a:rPr sz="1250">
                <a:solidFill>
                  <a:srgbClr val="334155"/>
                </a:solidFill>
              </a:rPr>
              <a:t>Dark and Light theme contrast verification passing WCAG AA standards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40"/>
            <a:ext cx="5242255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10.0 DEPLOYMENT &amp;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Deployment Architecture &amp; Live Prototype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Cloud deployment topology and empirical validation of real-world test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Cloud Hosting &amp; Container Architecture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🚀 Containerized Microservice Architecture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Backend packaged via lightweight Dockerfile based on `python:3.12-slim`, pinning dependencies (`fastapi`, `uvicorn`, `httpx`, `beautifulsoup4`).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🚀 Production ASGI Reverse Proxy Server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In production, Uvicorn workers operate behind a Gunicorn master process with Nginx as reverse proxy handling SSL termination and rate-limiting.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🚀 Serverless &amp; Static Hosting Topologies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Backend: Cloud Run / AWS ECS auto-scaling container handling dynamic spikes.</a:t>
            </a:r>
            <a:br/>
            <a:r>
              <a:t>• Frontend: Vercel Edge / Netlify static hosting with global CDN caching.</a:t>
            </a:r>
          </a:p>
          <a:p>
            <a:pPr>
              <a:spcBef>
                <a:spcPts val="600"/>
              </a:spcBef>
              <a:defRPr sz="1300" b="1">
                <a:solidFill>
                  <a:srgbClr val="4F46E5"/>
                </a:solidFill>
                <a:latin typeface="Calibri"/>
              </a:defRPr>
            </a:pPr>
            <a:r>
              <a:t>🚀 Zero Database Operational Footprint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Stateless backend design eliminates database maintenance costs, migration risks, and consumer data liability.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Live Prototype / MVP Test Scenarios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💻 Scenario A: Footwear Cross-Store Arbitrage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Comparison: Puma Smashic (Puma.com) vs Puma Rungryp (Flipkart)</a:t>
            </a:r>
            <a:br/>
            <a:r>
              <a:t>• Result: Detected ₹420 (17.4%) genuine price disparity</a:t>
            </a:r>
            <a:br/>
            <a:r>
              <a:t>• Outcome: Correctly highlighted Puma official store as winner due to free 2-day delivery and direct brand return policy.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💻 Scenario B: Obfuscated SPA Apparel Extraction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Target: Levi's Brand Logo Cotton Tee (Myntra)</a:t>
            </a:r>
            <a:br/>
            <a:r>
              <a:t>• Result: Bypassed React hydration shell via `__myx` JSON extraction</a:t>
            </a:r>
            <a:br/>
            <a:r>
              <a:t>• Outcome: Extracted live ₹1,199 checkout price, high-res images, and verified 4.2-star ratings in 1.3s.</a:t>
            </a:r>
          </a:p>
          <a:p>
            <a:pPr>
              <a:spcBef>
                <a:spcPts val="600"/>
              </a:spcBef>
              <a:defRPr sz="1300" b="1">
                <a:solidFill>
                  <a:srgbClr val="059669"/>
                </a:solidFill>
                <a:latin typeface="Calibri"/>
              </a:defRPr>
            </a:pPr>
            <a:r>
              <a:t>💻 Scenario C: ROI Interactive Calculator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Input: ₹12,000 monthly household shopping budget</a:t>
            </a:r>
            <a:br/>
            <a:r>
              <a:t>• Output: Projected ₹25,920 annual savings and 46 hours saved</a:t>
            </a:r>
            <a:br/>
            <a:r>
              <a:t>• Outcome: Responsive real-time recalculation using client-side reactive bindings.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10.3 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Empirical Evaluation, Benchmarks &amp; Value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Quantitative performance comparisons across latency, memory footprint, success rate, and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57400"/>
                <a:gridCol w="2057400"/>
                <a:gridCol w="2057400"/>
                <a:gridCol w="2087575"/>
              </a:tblGrid>
              <a:tr h="493776"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Headless Virtualization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 CSS Scraper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Gemini 2.0 Mode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109728" rIns="109728" tIns="73152" bIns="73152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ShopIntel Hybrid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3776"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Average Extraction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14.8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0.9 seconds (Fragile)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3.1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1.35 seconds (Robust)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93776"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Memory Footprint (per thread)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380 MB (Chromium)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18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22 MB (HTTPX Async)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93776"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Extraction Success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88.2%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54.1% (Build breaks)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96.4%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97.8% (Self-Healing)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493776"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Cost per 1,000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$18.50 (Server CPU)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$0.20 (Server)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$2.40 (Tokens)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2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$0.25 (Near-Zero API Cost)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343400"/>
            <a:ext cx="2542032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defRPr sz="3200" b="1">
                <a:solidFill>
                  <a:srgbClr val="4F46E5"/>
                </a:solidFill>
                <a:latin typeface="Calibri"/>
              </a:defRPr>
            </a:pPr>
            <a:r>
              <a:t>1.35s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Median Extraction Latency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Verified via empirical testing across 14+ Indian platforms.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2542032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4343400"/>
            <a:ext cx="2542032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defRPr sz="3200" b="1">
                <a:solidFill>
                  <a:srgbClr val="059669"/>
                </a:solidFill>
                <a:latin typeface="Calibri"/>
              </a:defRPr>
            </a:pPr>
            <a:r>
              <a:t>97.8%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Multi-Store Extraction Success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Verified via empirical testing across 14+ Indian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4343400"/>
            <a:ext cx="2542032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1344" y="4343400"/>
            <a:ext cx="2542032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defRPr sz="3200" b="1">
                <a:solidFill>
                  <a:srgbClr val="D97706"/>
                </a:solidFill>
                <a:latin typeface="Calibri"/>
              </a:defRPr>
            </a:pPr>
            <a:r>
              <a:t>22.4%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Average Disparity Arbitrage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Verified via empirical testing across 14+ Indian platforms.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343400"/>
            <a:ext cx="2542032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06256" y="4343400"/>
            <a:ext cx="2542032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defRPr sz="3200" b="1">
                <a:solidFill>
                  <a:srgbClr val="7C3AED"/>
                </a:solidFill>
                <a:latin typeface="Calibri"/>
              </a:defRPr>
            </a:pPr>
            <a:r>
              <a:t>$0.25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Calibri"/>
              </a:defRPr>
            </a:pPr>
            <a:r>
              <a:t>Operating Cost per 1k Runs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t>Verified via empirical testing across 14+ Indian platforms.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4343400"/>
            <a:ext cx="2542032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11.0 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Conclusion, Key Contributions &amp; Future Research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Summary of engineering milestones achieved and roadmap for future iterations.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Summary of Research Contributions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Resilient Dual-Engine Architecture: </a:t>
            </a:r>
            <a:r>
              <a:rPr sz="1300">
                <a:solidFill>
                  <a:srgbClr val="334155"/>
                </a:solidFill>
              </a:rPr>
              <a:t>Pioneered a hybrid extraction model combining the speed of lightweight microdata parsers with the cognitive resilience of multimodal LLMs.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Mitigation of SPA Hydration Barriers: </a:t>
            </a:r>
            <a:r>
              <a:rPr sz="1300">
                <a:solidFill>
                  <a:srgbClr val="334155"/>
                </a:solidFill>
              </a:rPr>
              <a:t>Eliminated headless browser virtualization by parsing server-pre-rendered React/Vue hydration scripts directly from raw HTTP responses.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Objective 100-Point MCDA Scoring: </a:t>
            </a:r>
            <a:r>
              <a:rPr sz="1300">
                <a:solidFill>
                  <a:srgbClr val="334155"/>
                </a:solidFill>
              </a:rPr>
              <a:t>Engineered a transparent decision index exposing artificial MRP markups and highlighting genuine consumer surplus.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4F46E5"/>
                </a:solidFill>
              </a:rPr>
              <a:t>Zero-Telemetry Local-First Standard: </a:t>
            </a:r>
            <a:r>
              <a:rPr sz="1300">
                <a:solidFill>
                  <a:srgbClr val="334155"/>
                </a:solidFill>
              </a:rPr>
              <a:t>Eliminated server-side database liabilities and user privacy vulnerabilities via 100% browser localStorage persistence.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Future Research &amp; Industrial Extensions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59669"/>
                </a:solidFill>
              </a:rPr>
              <a:t>Real-Time Price Drop WebSockets: </a:t>
            </a:r>
            <a:r>
              <a:rPr sz="1300">
                <a:solidFill>
                  <a:srgbClr val="334155"/>
                </a:solidFill>
              </a:rPr>
              <a:t>Deploy lightweight distributed cron workers that poll wishlists and push instant WebPush/Telegram notifications when items drop in price.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59669"/>
                </a:solidFill>
              </a:rPr>
              <a:t>Decentralized Edge Extraction Mesh: </a:t>
            </a:r>
            <a:r>
              <a:rPr sz="1300">
                <a:solidFill>
                  <a:srgbClr val="334155"/>
                </a:solidFill>
              </a:rPr>
              <a:t>Deploy serverless edge workers (Cloudflare Workers / AWS Lambda@Edge) using geographic IP rotation to bypass regional CDN price differentiation.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59669"/>
                </a:solidFill>
              </a:rPr>
              <a:t>Universal Manifest v3 Browser Extension: </a:t>
            </a:r>
            <a:r>
              <a:rPr sz="1300">
                <a:solidFill>
                  <a:srgbClr val="334155"/>
                </a:solidFill>
              </a:rPr>
              <a:t>Package the client engine into a lightweight Chrome/Firefox companion automatically displaying rival prices upon visiting any e-commerce PDP.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59669"/>
                </a:solidFill>
              </a:rPr>
              <a:t>Global Multi-Currency Normalization: </a:t>
            </a:r>
            <a:r>
              <a:rPr sz="1300">
                <a:solidFill>
                  <a:srgbClr val="334155"/>
                </a:solidFill>
              </a:rPr>
              <a:t>Expand the comparative model to support cross-border e-commerce (Amazon US, UK, Japan) with real-time currency and import duty estimation.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4F46E5"/>
                </a:solidFill>
                <a:latin typeface="Calibri"/>
              </a:defRPr>
            </a:pPr>
            <a:r>
              <a:t>SECTION 12.0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Academic References &amp; Standards 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Formal literature citations in IEEE/ACM academic formats.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ShopIntel AI · Academic &amp; Engineering Architecture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164592"/>
          <a:lstStyle/>
          <a:p>
            <a:pPr algn="ctr">
              <a:spcAft>
                <a:spcPts val="1000"/>
              </a:spcAft>
              <a:defRPr sz="1700" b="1">
                <a:solidFill>
                  <a:srgbClr val="0F172A"/>
                </a:solidFill>
                <a:latin typeface="Calibri"/>
              </a:defRPr>
            </a:pPr>
            <a:r>
              <a:t>Academic Literature &amp; Standards Citations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[1] Varghese, A., Kumar, S., &amp; Nair, R. (2023). Algorithmic Price Discrimination and Consumer Welfare in Developing E-Commerce Markets. IEEE Transactions on Computational Social Systems, 10(4), 1845–1858.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[2] Zheng, L., Chen, Y., &amp; Zhang, H. (2024). Resilient Web Information Extraction via Semantic Schema Graphs and Hybrid Parser Cascades. ACM Transactions on the Web (TWEB), 18(2), 1–28.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[3] Google DeepMind. (2024). Gemini: A Family of Highly Capable Multimodal Foundation Models. arXiv preprint arXiv:2312.11805.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[4] Fielding, R. T., &amp; Taylor, R. N. (2002). Principled Design of the Modern Web Architecture. ACM Transactions on Internet Technology (TOIT), 2(2), 115–150.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[5] W3C. (2020). Schema.org: Structured Data on the World Wide Web. World Wide Web Consortium Recommendation. https://schema.org/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[6] Tiangolo, S. (2024). FastAPI: High Performance Modern Python Web Framework. https://fastapi.tiangolo.com/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[7] Richardson, L. (2023). Beautiful Soup Documentation. Beautiful Soup 4.12. https://www.crummy.com/software/BeautifulSoup/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[8] Kleppmann, M. (2019). Designing Data-Intensive Applications: The Big Ideas Behind Reliable, Scalable, and Maintainable Systems. O'Reilly Media.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[9] IEEE Computer Society. (1998). IEEE Recommended Practice for Software Requirements Specifications. IEEE Std 830-1998.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7315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